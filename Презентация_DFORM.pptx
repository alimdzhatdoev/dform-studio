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792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11887200" cy="54864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6803136"/>
            <a:ext cx="11887200" cy="54864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" y="502920"/>
            <a:ext cx="3657600" cy="384048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548640"/>
            <a:ext cx="3566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C0C0E"/>
                </a:solidFill>
                <a:latin typeface="Calibri"/>
              </a:rPr>
              <a:t>ДИПЛОМНАЯ РАБОТА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09728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4EFE6"/>
                </a:solidFill>
                <a:latin typeface="Calibri"/>
              </a:rPr>
              <a:t>Разработка корпоративного сайта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55648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8F439"/>
                </a:solidFill>
                <a:latin typeface="Calibri"/>
              </a:rPr>
              <a:t>с возможностью онлайн-заказов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9572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4EFE6"/>
                </a:solidFill>
                <a:latin typeface="Calibri"/>
              </a:rPr>
              <a:t>и аналитикой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154680"/>
            <a:ext cx="10332720" cy="36576"/>
          </a:xfrm>
          <a:prstGeom prst="rect">
            <a:avLst/>
          </a:prstGeom>
          <a:solidFill>
            <a:srgbClr val="2A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31012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580"/>
                </a:solidFill>
                <a:latin typeface="Calibri"/>
              </a:rPr>
              <a:t>Студент: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85616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580"/>
                </a:solidFill>
                <a:latin typeface="Calibri"/>
              </a:rPr>
              <a:t>Направление: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3785616"/>
            <a:ext cx="7315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400" b="1" i="0" dirty="0">
                <a:solidFill>
                  <a:srgbClr val="F4EFE6"/>
                </a:solidFill>
                <a:latin typeface="Calibri"/>
              </a:rPr>
              <a:t>Направление</a:t>
            </a:r>
            <a:endParaRPr sz="1400" b="1" i="0" dirty="0">
              <a:solidFill>
                <a:srgbClr val="F4EFE6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4400" y="426110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580"/>
                </a:solidFill>
                <a:latin typeface="Calibri"/>
              </a:rPr>
              <a:t>Руководитель: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4261104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EFE6"/>
                </a:solidFill>
                <a:latin typeface="Calibri"/>
              </a:rPr>
              <a:t>(ФИО руководителя)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73659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580"/>
                </a:solidFill>
                <a:latin typeface="Calibri"/>
              </a:rPr>
              <a:t>Кафедра: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4736592"/>
            <a:ext cx="7315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400" b="1" i="0" dirty="0">
                <a:solidFill>
                  <a:srgbClr val="F4EFE6"/>
                </a:solidFill>
                <a:latin typeface="Calibri"/>
              </a:rPr>
              <a:t>Кафедра</a:t>
            </a:r>
            <a:endParaRPr sz="1400" b="1" i="0" dirty="0">
              <a:solidFill>
                <a:srgbClr val="F4EFE6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914400" y="5440680"/>
            <a:ext cx="10332720" cy="36576"/>
          </a:xfrm>
          <a:prstGeom prst="rect">
            <a:avLst/>
          </a:prstGeom>
          <a:solidFill>
            <a:srgbClr val="2A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5596128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580"/>
                </a:solidFill>
                <a:latin typeface="Calibri"/>
              </a:rPr>
              <a:t>Северо-Кавказская государственная академия  ·  Черкесск, 2026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2640" y="1005840"/>
            <a:ext cx="1965960" cy="196596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692640" y="1005840"/>
            <a:ext cx="1965960" cy="54864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92640" y="1143000"/>
            <a:ext cx="1965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E8F439"/>
                </a:solidFill>
                <a:latin typeface="Calibri"/>
              </a:rPr>
              <a:t>DF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251460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580"/>
                </a:solidFill>
                <a:latin typeface="Calibri"/>
              </a:rPr>
              <a:t>DFORM Studio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B5FB23D-8DED-4F5F-8A85-D8DE367DCA79}"/>
              </a:ext>
            </a:extLst>
          </p:cNvPr>
          <p:cNvSpPr txBox="1"/>
          <p:nvPr/>
        </p:nvSpPr>
        <p:spPr>
          <a:xfrm>
            <a:off x="3154680" y="3314607"/>
            <a:ext cx="7315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400" b="1" i="0" dirty="0">
                <a:solidFill>
                  <a:srgbClr val="F4EFE6"/>
                </a:solidFill>
                <a:latin typeface="Calibri"/>
              </a:rPr>
              <a:t>ФИО студента</a:t>
            </a:r>
            <a:endParaRPr sz="1400" b="1" i="0" dirty="0">
              <a:solidFill>
                <a:srgbClr val="F4EFE6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4EFE6"/>
                </a:solidFill>
                <a:latin typeface="Calibri"/>
              </a:rPr>
              <a:t>Актуальность темы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54864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32720" y="658368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580"/>
                </a:solidFill>
                <a:latin typeface="Calibri"/>
              </a:rPr>
              <a:t>DFORM 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15568"/>
            <a:ext cx="3749039" cy="210312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115568"/>
            <a:ext cx="3749039" cy="54864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F439"/>
                </a:solidFill>
                <a:latin typeface="Calibri"/>
              </a:rPr>
              <a:t>70%+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73936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EFE6"/>
                </a:solidFill>
                <a:latin typeface="Calibri"/>
              </a:rPr>
              <a:t>потребителей изучают сайт
перед обращением к компании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115568"/>
            <a:ext cx="3749039" cy="210312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115568"/>
            <a:ext cx="3749039" cy="54864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128016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F439"/>
                </a:solidFill>
                <a:latin typeface="Calibri"/>
              </a:rPr>
              <a:t>Онлайн-заказы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773936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EFE6"/>
                </a:solidFill>
                <a:latin typeface="Calibri"/>
              </a:rPr>
              <a:t>снимают ограничение рабочих часов
и структурируют первичные брифы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115568"/>
            <a:ext cx="3749039" cy="210312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21040" y="1115568"/>
            <a:ext cx="3749039" cy="54864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19" y="128016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F439"/>
                </a:solidFill>
                <a:latin typeface="Calibri"/>
              </a:rPr>
              <a:t>Аналитика данных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1773936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EFE6"/>
                </a:solidFill>
                <a:latin typeface="Calibri"/>
              </a:rPr>
              <a:t>необходима для обоснованного
планирования загрузки и услуг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447287"/>
            <a:ext cx="3749039" cy="210312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" y="3447287"/>
            <a:ext cx="3749039" cy="54864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3611879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F439"/>
                </a:solidFill>
                <a:latin typeface="Calibri"/>
              </a:rPr>
              <a:t>Готовые платформы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05655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EFE6"/>
                </a:solidFill>
                <a:latin typeface="Calibri"/>
              </a:rPr>
              <a:t>не покрывают специфику
творческих компаний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3447287"/>
            <a:ext cx="3749039" cy="210312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43400" y="3447287"/>
            <a:ext cx="3749039" cy="54864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26280" y="3611879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F439"/>
                </a:solidFill>
                <a:latin typeface="Calibri"/>
              </a:rPr>
              <a:t>CMS-панель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105655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EFE6"/>
                </a:solidFill>
                <a:latin typeface="Calibri"/>
              </a:rPr>
              <a:t>обеспечивает независимость
от разработчика при обновлениях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943600"/>
            <a:ext cx="11430000" cy="530352"/>
          </a:xfrm>
          <a:prstGeom prst="rect">
            <a:avLst/>
          </a:prstGeom>
          <a:solidFill>
            <a:srgbClr val="222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" y="598932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8580"/>
                </a:solidFill>
                <a:latin typeface="Calibri"/>
              </a:rPr>
              <a:t>⟶  Индивидуальная разработка — единственное решение, обеспечивающее полный функционал без компромиссов с дизайном, гибкостью и независимостью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4EFE6"/>
                </a:solidFill>
                <a:latin typeface="Calibri"/>
              </a:rPr>
              <a:t>Объект, предмет и цель работы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54864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32720" y="658368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580"/>
                </a:solidFill>
                <a:latin typeface="Calibri"/>
              </a:rPr>
              <a:t>DFORM 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15568"/>
            <a:ext cx="11430000" cy="132588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115568"/>
            <a:ext cx="64008" cy="132588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20700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F439"/>
                </a:solidFill>
                <a:latin typeface="Calibri"/>
              </a:rPr>
              <a:t>Объект исследования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91056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4EFE6"/>
                </a:solidFill>
                <a:latin typeface="Calibri"/>
              </a:rPr>
              <a:t>Процесс автоматизации взаимодействия компании сферы услуг с клиентами посредством корпоративного веб-сайта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15768"/>
            <a:ext cx="11430000" cy="132588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2715768"/>
            <a:ext cx="64008" cy="132588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80720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F439"/>
                </a:solidFill>
                <a:latin typeface="Calibri"/>
              </a:rPr>
              <a:t>Предмет исследования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91256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4EFE6"/>
                </a:solidFill>
                <a:latin typeface="Calibri"/>
              </a:rPr>
              <a:t>Методы и средства разработки корпоративного сайта с интегрированными модулями онлайн-заказов и аналитики на основе современного стека веб-технологий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343400"/>
            <a:ext cx="11430000" cy="132588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4343400"/>
            <a:ext cx="64008" cy="132588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443484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F439"/>
                </a:solidFill>
                <a:latin typeface="Calibri"/>
              </a:rPr>
              <a:t>Цель работы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81888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4EFE6"/>
                </a:solidFill>
                <a:latin typeface="Calibri"/>
              </a:rPr>
              <a:t>Проектирование и реализация корпоративного сайта, обеспечивающего представление информации об услугах, приём и управление онлайн-заявками, а также сбор и визуализацию аналитических данных о деятельности студии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4EFE6"/>
                </a:solidFill>
                <a:latin typeface="Calibri"/>
              </a:rPr>
              <a:t>Задачи дипломной работы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54864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32720" y="658368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580"/>
                </a:solidFill>
                <a:latin typeface="Calibri"/>
              </a:rPr>
              <a:t>DFORM 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402336" cy="402336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133856"/>
            <a:ext cx="402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C0C0E"/>
                </a:solidFill>
                <a:latin typeface="Calibr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832104" y="1097280"/>
            <a:ext cx="5349240" cy="402336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1170432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EFE6"/>
                </a:solidFill>
                <a:latin typeface="Calibri"/>
              </a:rPr>
              <a:t>Анализ предметной области и потребностей компаний сферы услуг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66543"/>
            <a:ext cx="402336" cy="402336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2103120"/>
            <a:ext cx="402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C0C0E"/>
                </a:solidFill>
                <a:latin typeface="Calibri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" y="2066543"/>
            <a:ext cx="5349240" cy="402336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2139696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EFE6"/>
                </a:solidFill>
                <a:latin typeface="Calibri"/>
              </a:rPr>
              <a:t>Обзор существующих решений и обоснование индивидуальной разработки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035808"/>
            <a:ext cx="402336" cy="402336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3072384"/>
            <a:ext cx="402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C0C0E"/>
                </a:solidFill>
                <a:latin typeface="Calibri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" y="3035808"/>
            <a:ext cx="5349240" cy="402336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7552" y="310896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EFE6"/>
                </a:solidFill>
                <a:latin typeface="Calibri"/>
              </a:rPr>
              <a:t>Формулирование функциональных и нефункциональных требований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005072"/>
            <a:ext cx="402336" cy="402336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4041648"/>
            <a:ext cx="402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C0C0E"/>
                </a:solidFill>
                <a:latin typeface="Calibri"/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" y="4005072"/>
            <a:ext cx="5349240" cy="402336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7552" y="4078224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EFE6"/>
                </a:solidFill>
                <a:latin typeface="Calibri"/>
              </a:rPr>
              <a:t>Выбор и обоснование технологического стека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974336"/>
            <a:ext cx="402336" cy="402336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5010912"/>
            <a:ext cx="402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C0C0E"/>
                </a:solidFill>
                <a:latin typeface="Calibri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4" y="4974336"/>
            <a:ext cx="5349240" cy="402336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87552" y="504748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EFE6"/>
                </a:solidFill>
                <a:latin typeface="Calibri"/>
              </a:rPr>
              <a:t>Проектирование структуры БД и архитектуры приложения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1097280"/>
            <a:ext cx="402336" cy="402336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92240" y="1133856"/>
            <a:ext cx="402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C0C0E"/>
                </a:solidFill>
                <a:latin typeface="Calibri"/>
              </a:rPr>
              <a:t>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58584" y="1097280"/>
            <a:ext cx="4892040" cy="402336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14032" y="1170432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EFE6"/>
                </a:solidFill>
                <a:latin typeface="Calibri"/>
              </a:rPr>
              <a:t>Реализация серверной части с REST API и аутентификацией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2066543"/>
            <a:ext cx="402336" cy="402336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92240" y="2103120"/>
            <a:ext cx="402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C0C0E"/>
                </a:solidFill>
                <a:latin typeface="Calibri"/>
              </a:rPr>
              <a:t>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58584" y="2066543"/>
            <a:ext cx="4892040" cy="402336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114032" y="2139696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EFE6"/>
                </a:solidFill>
                <a:latin typeface="Calibri"/>
              </a:rPr>
              <a:t>Разработка клиентского интерфейса с адаптивной вёрсткой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3035808"/>
            <a:ext cx="402336" cy="402336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92240" y="3072384"/>
            <a:ext cx="402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C0C0E"/>
                </a:solidFill>
                <a:latin typeface="Calibri"/>
              </a:rPr>
              <a:t>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58584" y="3035808"/>
            <a:ext cx="4892040" cy="402336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114032" y="3108960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EFE6"/>
                </a:solidFill>
                <a:latin typeface="Calibri"/>
              </a:rPr>
              <a:t>Реализация системы заказов, CMS-панели и модуля аналитики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92240" y="4005072"/>
            <a:ext cx="402336" cy="402336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92240" y="4041648"/>
            <a:ext cx="402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C0C0E"/>
                </a:solidFill>
                <a:latin typeface="Calibri"/>
              </a:rPr>
              <a:t>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58584" y="4005072"/>
            <a:ext cx="4892040" cy="402336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114032" y="4078224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EFE6"/>
                </a:solidFill>
                <a:latin typeface="Calibri"/>
              </a:rPr>
              <a:t>Функциональное тестирование и развёртывание на Render.com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4EFE6"/>
                </a:solidFill>
                <a:latin typeface="Calibri"/>
              </a:rPr>
              <a:t>Технологический стек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54864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32720" y="658368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580"/>
                </a:solidFill>
                <a:latin typeface="Calibri"/>
              </a:rPr>
              <a:t>DFORM 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78992"/>
            <a:ext cx="5669280" cy="2450592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078992"/>
            <a:ext cx="5669280" cy="54864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207007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F439"/>
                </a:solidFill>
                <a:latin typeface="Calibri"/>
              </a:rPr>
              <a:t>Фронтенд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73352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4EFE6"/>
                </a:solidFill>
                <a:latin typeface="Calibri"/>
              </a:rPr>
              <a:t>  React 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20824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4EFE6"/>
                </a:solidFill>
                <a:latin typeface="Calibri"/>
              </a:rPr>
              <a:t>  React Router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368296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4EFE6"/>
                </a:solidFill>
                <a:latin typeface="Calibri"/>
              </a:rPr>
              <a:t>  Context API + Хуки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71576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4EFE6"/>
                </a:solidFill>
                <a:latin typeface="Calibri"/>
              </a:rPr>
              <a:t>  CSS Custom Properties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06324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4EFE6"/>
                </a:solidFill>
                <a:latin typeface="Calibri"/>
              </a:rPr>
              <a:t>  Fetch API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1078992"/>
            <a:ext cx="5669280" cy="2450592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078992"/>
            <a:ext cx="5669280" cy="54864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56248" y="1207007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F439"/>
                </a:solidFill>
                <a:latin typeface="Calibri"/>
              </a:rPr>
              <a:t>Бэкенд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8" y="1673352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4EFE6"/>
                </a:solidFill>
                <a:latin typeface="Calibri"/>
              </a:rPr>
              <a:t>  Node.js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6248" y="2020824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4EFE6"/>
                </a:solidFill>
                <a:latin typeface="Calibri"/>
              </a:rPr>
              <a:t>  Встроенный http-сервер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6248" y="2368296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4EFE6"/>
                </a:solidFill>
                <a:latin typeface="Calibri"/>
              </a:rPr>
              <a:t>  REST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6248" y="271576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4EFE6"/>
                </a:solidFill>
                <a:latin typeface="Calibri"/>
              </a:rPr>
              <a:t>  bcrypt (хэширование)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6248" y="306324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4EFE6"/>
                </a:solidFill>
                <a:latin typeface="Calibri"/>
              </a:rPr>
              <a:t>  Сессии + Cookies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730752"/>
            <a:ext cx="5669280" cy="2450592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3730752"/>
            <a:ext cx="5669280" cy="54864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3858768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F439"/>
                </a:solidFill>
                <a:latin typeface="Calibri"/>
              </a:rPr>
              <a:t>База данных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4325112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4EFE6"/>
                </a:solidFill>
                <a:latin typeface="Calibri"/>
              </a:rPr>
              <a:t>  MySQL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4672584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4EFE6"/>
                </a:solidFill>
                <a:latin typeface="Calibri"/>
              </a:rPr>
              <a:t>  16 таблиц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5020056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4EFE6"/>
                </a:solidFill>
                <a:latin typeface="Calibri"/>
              </a:rPr>
              <a:t>  5 внешних ключей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536752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4EFE6"/>
                </a:solidFill>
                <a:latin typeface="Calibri"/>
              </a:rPr>
              <a:t>  Нормализация 3НФ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571500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4EFE6"/>
                </a:solidFill>
                <a:latin typeface="Calibri"/>
              </a:rPr>
              <a:t>  schema.sql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5080" y="3730752"/>
            <a:ext cx="5669280" cy="2450592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355080" y="3730752"/>
            <a:ext cx="5669280" cy="54864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56248" y="3858768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F439"/>
                </a:solidFill>
                <a:latin typeface="Calibri"/>
              </a:rPr>
              <a:t>Инфраструктура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56248" y="4325112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4EFE6"/>
                </a:solidFill>
                <a:latin typeface="Calibri"/>
              </a:rPr>
              <a:t>  Git + GitHub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56248" y="4672584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4EFE6"/>
                </a:solidFill>
                <a:latin typeface="Calibri"/>
              </a:rPr>
              <a:t>  Render.com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56248" y="5020056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4EFE6"/>
                </a:solidFill>
                <a:latin typeface="Calibri"/>
              </a:rPr>
              <a:t>  CI/CD авто-деплой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56248" y="536752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4EFE6"/>
                </a:solidFill>
                <a:latin typeface="Calibri"/>
              </a:rPr>
              <a:t>  HTTPS / TLS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56248" y="571500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4EFE6"/>
                </a:solidFill>
                <a:latin typeface="Calibri"/>
              </a:rPr>
              <a:t>  ENV переменные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4EFE6"/>
                </a:solidFill>
                <a:latin typeface="Calibri"/>
              </a:rPr>
              <a:t>Архитектура системы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54864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32720" y="658368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580"/>
                </a:solidFill>
                <a:latin typeface="Calibri"/>
              </a:rPr>
              <a:t>DFORM 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2834640" cy="86868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98424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C0C0E"/>
                </a:solidFill>
                <a:latin typeface="Calibri"/>
              </a:rPr>
              <a:t>БРАУЗЕР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9572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C0C0E"/>
                </a:solidFill>
                <a:latin typeface="Calibri"/>
              </a:rPr>
              <a:t>React SPA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1920240"/>
            <a:ext cx="2834640" cy="868680"/>
          </a:xfrm>
          <a:prstGeom prst="rect">
            <a:avLst/>
          </a:prstGeom>
          <a:solidFill>
            <a:srgbClr val="222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23360" y="198424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F439"/>
                </a:solidFill>
                <a:latin typeface="Calibri"/>
              </a:rPr>
              <a:t>NODE.JS СЕРВЕР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39572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F439"/>
                </a:solidFill>
                <a:latin typeface="Calibri"/>
              </a:rPr>
              <a:t>REST API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1920240"/>
            <a:ext cx="2834640" cy="86868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89520" y="198424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4EFE6"/>
                </a:solidFill>
                <a:latin typeface="Calibri"/>
              </a:rPr>
              <a:t>JSON / MySQL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39572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580"/>
                </a:solidFill>
                <a:latin typeface="Calibri"/>
              </a:rPr>
              <a:t>16 таблиц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657600"/>
            <a:ext cx="2834640" cy="86868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372160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88580"/>
                </a:solidFill>
                <a:latin typeface="Calibri"/>
              </a:rPr>
              <a:t>ПОСЕТИТЕЛЬ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33087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580"/>
                </a:solidFill>
                <a:latin typeface="Calibri"/>
              </a:rPr>
              <a:t>Публичный сайт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0" y="3657600"/>
            <a:ext cx="2834640" cy="86868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023360" y="372160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88580"/>
                </a:solidFill>
                <a:latin typeface="Calibri"/>
              </a:rPr>
              <a:t>АДМИНИСТРАТОР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4133087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580"/>
                </a:solidFill>
                <a:latin typeface="Calibri"/>
              </a:rPr>
              <a:t>CMS + Аналитика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0" y="3657600"/>
            <a:ext cx="2834640" cy="86868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89520" y="372160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88580"/>
                </a:solidFill>
                <a:latin typeface="Calibri"/>
              </a:rPr>
              <a:t>RENDER.COM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4133087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580"/>
                </a:solidFill>
                <a:latin typeface="Calibri"/>
              </a:rPr>
              <a:t>Облачный хостинг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291840" y="2359152"/>
            <a:ext cx="731520" cy="0"/>
          </a:xfrm>
          <a:prstGeom prst="line">
            <a:avLst/>
          </a:prstGeom>
          <a:ln w="19050">
            <a:solidFill>
              <a:srgbClr val="E8F4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858000" y="2359152"/>
            <a:ext cx="731520" cy="0"/>
          </a:xfrm>
          <a:prstGeom prst="line">
            <a:avLst/>
          </a:prstGeom>
          <a:ln w="19050">
            <a:solidFill>
              <a:srgbClr val="E8F4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74519" y="2788920"/>
            <a:ext cx="0" cy="868680"/>
          </a:xfrm>
          <a:prstGeom prst="line">
            <a:avLst/>
          </a:prstGeom>
          <a:ln w="19050">
            <a:solidFill>
              <a:srgbClr val="E8F4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86400" y="2788920"/>
            <a:ext cx="0" cy="868680"/>
          </a:xfrm>
          <a:prstGeom prst="line">
            <a:avLst/>
          </a:prstGeom>
          <a:ln w="19050">
            <a:solidFill>
              <a:srgbClr val="E8F4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006840" y="2788920"/>
            <a:ext cx="0" cy="868680"/>
          </a:xfrm>
          <a:prstGeom prst="line">
            <a:avLst/>
          </a:prstGeom>
          <a:ln w="19050">
            <a:solidFill>
              <a:srgbClr val="E8F4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337560" y="208483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580"/>
                </a:solidFill>
                <a:latin typeface="Calibri"/>
              </a:rPr>
              <a:t>HTTP/JSON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2084831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580"/>
                </a:solidFill>
                <a:latin typeface="Calibri"/>
              </a:rPr>
              <a:t>fs.read/write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029200"/>
            <a:ext cx="10972800" cy="749808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8368" y="5084064"/>
            <a:ext cx="105704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580"/>
                </a:solidFill>
                <a:latin typeface="Calibri"/>
              </a:rPr>
              <a:t>Клиент-серверная SPA-архитектура: фронтенд (React) ↔ бэкенд (Node.js HTTP) ↔ хранилище (MySQL / JSON).
В production: Node.js раздаёт скомпилированный React-билд как статику — единый сервис на Render.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4EFE6"/>
                </a:solidFill>
                <a:latin typeface="Calibri"/>
              </a:rPr>
              <a:t>Структура базы данных (MySQL)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580"/>
                </a:solidFill>
                <a:latin typeface="Calibri"/>
              </a:rPr>
              <a:t>16 таблиц · 5 внешних ключей · Нормализация до 3НФ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695" cy="54864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32720" y="658368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580"/>
                </a:solidFill>
                <a:latin typeface="Calibri"/>
              </a:rPr>
              <a:t>DFORM Studio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1051560"/>
            <a:ext cx="2834640" cy="3163824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01168" y="1051560"/>
            <a:ext cx="2834640" cy="347472"/>
          </a:xfrm>
          <a:prstGeom prst="rect">
            <a:avLst/>
          </a:prstGeom>
          <a:solidFill>
            <a:srgbClr val="222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01168" y="1051560"/>
            <a:ext cx="54864" cy="3163824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0896" y="1106424"/>
            <a:ext cx="2670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F439"/>
                </a:solidFill>
                <a:latin typeface="Calibri"/>
              </a:rPr>
              <a:t>orders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1490472"/>
            <a:ext cx="2779776" cy="292608"/>
          </a:xfrm>
          <a:prstGeom prst="rect">
            <a:avLst/>
          </a:prstGeom>
          <a:solidFill>
            <a:srgbClr val="14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2608" y="1508760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F439"/>
                </a:solidFill>
                <a:latin typeface="Calibri"/>
              </a:rPr>
              <a:t>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5087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580"/>
                </a:solidFill>
                <a:latin typeface="Calibri"/>
              </a:rPr>
              <a:t>VARCHAR(64)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150876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8F439"/>
                </a:solidFill>
                <a:latin typeface="Calibri"/>
              </a:rPr>
              <a:t>PK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" y="1801368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4EFE6"/>
                </a:solidFill>
                <a:latin typeface="Calibri"/>
              </a:rPr>
              <a:t>name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18013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580"/>
                </a:solidFill>
                <a:latin typeface="Calibri"/>
              </a:rPr>
              <a:t>VARCHAR(255)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2075688"/>
            <a:ext cx="2779776" cy="292608"/>
          </a:xfrm>
          <a:prstGeom prst="rect">
            <a:avLst/>
          </a:prstGeom>
          <a:solidFill>
            <a:srgbClr val="14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2608" y="2093976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4EFE6"/>
                </a:solidFill>
                <a:latin typeface="Calibri"/>
              </a:rPr>
              <a:t>email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209397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580"/>
                </a:solidFill>
                <a:latin typeface="Calibri"/>
              </a:rPr>
              <a:t>VARCHAR(255)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" y="2386584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4EFE6"/>
                </a:solidFill>
                <a:latin typeface="Calibri"/>
              </a:rPr>
              <a:t>phone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238658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580"/>
                </a:solidFill>
                <a:latin typeface="Calibri"/>
              </a:rPr>
              <a:t>VARCHAR(50)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238658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88580"/>
                </a:solidFill>
                <a:latin typeface="Calibri"/>
              </a:rPr>
              <a:t>NULL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6032" y="2660904"/>
            <a:ext cx="2779776" cy="292608"/>
          </a:xfrm>
          <a:prstGeom prst="rect">
            <a:avLst/>
          </a:prstGeom>
          <a:solidFill>
            <a:srgbClr val="14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92608" y="2679192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580"/>
                </a:solidFill>
                <a:latin typeface="Calibri"/>
              </a:rPr>
              <a:t>service_id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267919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580"/>
                </a:solidFill>
                <a:latin typeface="Calibri"/>
              </a:rPr>
              <a:t>VARCHAR(64)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26791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09AF5"/>
                </a:solidFill>
                <a:latin typeface="Calibri"/>
              </a:rPr>
              <a:t>FK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" y="2971800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4EFE6"/>
                </a:solidFill>
                <a:latin typeface="Calibri"/>
              </a:rPr>
              <a:t>description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29718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580"/>
                </a:solidFill>
                <a:latin typeface="Calibri"/>
              </a:rPr>
              <a:t>TEXT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6032" y="3246120"/>
            <a:ext cx="2779776" cy="292608"/>
          </a:xfrm>
          <a:prstGeom prst="rect">
            <a:avLst/>
          </a:prstGeom>
          <a:solidFill>
            <a:srgbClr val="14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92608" y="3264408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4EFE6"/>
                </a:solidFill>
                <a:latin typeface="Calibri"/>
              </a:rPr>
              <a:t>budget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32644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580"/>
                </a:solidFill>
                <a:latin typeface="Calibri"/>
              </a:rPr>
              <a:t>VARCHAR(100)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0320" y="326440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88580"/>
                </a:solidFill>
                <a:latin typeface="Calibri"/>
              </a:rPr>
              <a:t>NULL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" y="3557016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4EFE6"/>
                </a:solidFill>
                <a:latin typeface="Calibri"/>
              </a:rPr>
              <a:t>status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355701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580"/>
                </a:solidFill>
                <a:latin typeface="Calibri"/>
              </a:rPr>
              <a:t>ENUM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60320" y="3557016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88580"/>
                </a:solidFill>
                <a:latin typeface="Calibri"/>
              </a:rPr>
              <a:t>new|in_prog…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6032" y="3831335"/>
            <a:ext cx="2779776" cy="292608"/>
          </a:xfrm>
          <a:prstGeom prst="rect">
            <a:avLst/>
          </a:prstGeom>
          <a:solidFill>
            <a:srgbClr val="14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92608" y="3849623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4EFE6"/>
                </a:solidFill>
                <a:latin typeface="Calibri"/>
              </a:rPr>
              <a:t>created_at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54480" y="3849623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580"/>
                </a:solidFill>
                <a:latin typeface="Calibri"/>
              </a:rPr>
              <a:t>DATETIME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45536" y="1051560"/>
            <a:ext cx="2834640" cy="2286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145536" y="1051560"/>
            <a:ext cx="2834640" cy="347472"/>
          </a:xfrm>
          <a:prstGeom prst="rect">
            <a:avLst/>
          </a:prstGeom>
          <a:solidFill>
            <a:srgbClr val="222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145536" y="1051560"/>
            <a:ext cx="54864" cy="228600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255264" y="1106424"/>
            <a:ext cx="2670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F439"/>
                </a:solidFill>
                <a:latin typeface="Calibri"/>
              </a:rPr>
              <a:t>services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0" y="1490472"/>
            <a:ext cx="2779776" cy="292608"/>
          </a:xfrm>
          <a:prstGeom prst="rect">
            <a:avLst/>
          </a:prstGeom>
          <a:solidFill>
            <a:srgbClr val="14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236976" y="1508760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F439"/>
                </a:solidFill>
                <a:latin typeface="Calibri"/>
              </a:rPr>
              <a:t>id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98848" y="15087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580"/>
                </a:solidFill>
                <a:latin typeface="Calibri"/>
              </a:rPr>
              <a:t>VARCHAR(64)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04688" y="150876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8F439"/>
                </a:solidFill>
                <a:latin typeface="Calibri"/>
              </a:rPr>
              <a:t>PK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36976" y="1801368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4EFE6"/>
                </a:solidFill>
                <a:latin typeface="Calibri"/>
              </a:rPr>
              <a:t>icon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98848" y="18013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580"/>
                </a:solidFill>
                <a:latin typeface="Calibri"/>
              </a:rPr>
              <a:t>VARCHAR(10)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0" y="2075688"/>
            <a:ext cx="2779776" cy="292608"/>
          </a:xfrm>
          <a:prstGeom prst="rect">
            <a:avLst/>
          </a:prstGeom>
          <a:solidFill>
            <a:srgbClr val="14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236976" y="2093976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4EFE6"/>
                </a:solidFill>
                <a:latin typeface="Calibri"/>
              </a:rPr>
              <a:t>title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98848" y="209397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580"/>
                </a:solidFill>
                <a:latin typeface="Calibri"/>
              </a:rPr>
              <a:t>VARCHAR(255)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36976" y="2386584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4EFE6"/>
                </a:solidFill>
                <a:latin typeface="Calibri"/>
              </a:rPr>
              <a:t>description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98848" y="238658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580"/>
                </a:solidFill>
                <a:latin typeface="Calibri"/>
              </a:rPr>
              <a:t>TEXT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0" y="2660904"/>
            <a:ext cx="2779776" cy="292608"/>
          </a:xfrm>
          <a:prstGeom prst="rect">
            <a:avLst/>
          </a:prstGeom>
          <a:solidFill>
            <a:srgbClr val="14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236976" y="2679192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4EFE6"/>
                </a:solidFill>
                <a:latin typeface="Calibri"/>
              </a:rPr>
              <a:t>price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98848" y="267919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580"/>
                </a:solidFill>
                <a:latin typeface="Calibri"/>
              </a:rPr>
              <a:t>VARCHAR(100)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36976" y="2971800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4EFE6"/>
                </a:solidFill>
                <a:latin typeface="Calibri"/>
              </a:rPr>
              <a:t>duration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98848" y="29718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580"/>
                </a:solidFill>
                <a:latin typeface="Calibri"/>
              </a:rPr>
              <a:t>VARCHAR(100)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89904" y="1051560"/>
            <a:ext cx="2834640" cy="1700784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089904" y="1051560"/>
            <a:ext cx="2834640" cy="347472"/>
          </a:xfrm>
          <a:prstGeom prst="rect">
            <a:avLst/>
          </a:prstGeom>
          <a:solidFill>
            <a:srgbClr val="222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6089904" y="1051560"/>
            <a:ext cx="54864" cy="1700784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199632" y="1106424"/>
            <a:ext cx="2670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F439"/>
                </a:solidFill>
                <a:latin typeface="Calibri"/>
              </a:rPr>
              <a:t>service_features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44768" y="1490472"/>
            <a:ext cx="2779776" cy="292608"/>
          </a:xfrm>
          <a:prstGeom prst="rect">
            <a:avLst/>
          </a:prstGeom>
          <a:solidFill>
            <a:srgbClr val="14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181344" y="1508760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F439"/>
                </a:solidFill>
                <a:latin typeface="Calibri"/>
              </a:rPr>
              <a:t>id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43216" y="15087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580"/>
                </a:solidFill>
                <a:latin typeface="Calibri"/>
              </a:rPr>
              <a:t>INT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449056" y="150876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8F439"/>
                </a:solidFill>
                <a:latin typeface="Calibri"/>
              </a:rPr>
              <a:t>PK AI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81344" y="1801368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580"/>
                </a:solidFill>
                <a:latin typeface="Calibri"/>
              </a:rPr>
              <a:t>service_id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43216" y="18013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580"/>
                </a:solidFill>
                <a:latin typeface="Calibri"/>
              </a:rPr>
              <a:t>VARCHAR(64)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449056" y="180136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09AF5"/>
                </a:solidFill>
                <a:latin typeface="Calibri"/>
              </a:rPr>
              <a:t>FK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144768" y="2075688"/>
            <a:ext cx="2779776" cy="292608"/>
          </a:xfrm>
          <a:prstGeom prst="rect">
            <a:avLst/>
          </a:prstGeom>
          <a:solidFill>
            <a:srgbClr val="14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181344" y="2093976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4EFE6"/>
                </a:solidFill>
                <a:latin typeface="Calibri"/>
              </a:rPr>
              <a:t>feature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443216" y="209397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580"/>
                </a:solidFill>
                <a:latin typeface="Calibri"/>
              </a:rPr>
              <a:t>VARCHAR(255)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181344" y="2386584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4EFE6"/>
                </a:solidFill>
                <a:latin typeface="Calibri"/>
              </a:rPr>
              <a:t>sort_order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443216" y="238658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580"/>
                </a:solidFill>
                <a:latin typeface="Calibri"/>
              </a:rPr>
              <a:t>INT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034272" y="1051560"/>
            <a:ext cx="2834640" cy="2871216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9034272" y="1051560"/>
            <a:ext cx="2834640" cy="347472"/>
          </a:xfrm>
          <a:prstGeom prst="rect">
            <a:avLst/>
          </a:prstGeom>
          <a:solidFill>
            <a:srgbClr val="222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9034272" y="1051560"/>
            <a:ext cx="54864" cy="2871216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9144000" y="1106424"/>
            <a:ext cx="2670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F439"/>
                </a:solidFill>
                <a:latin typeface="Calibri"/>
              </a:rPr>
              <a:t>portfolio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089136" y="1490472"/>
            <a:ext cx="2779776" cy="292608"/>
          </a:xfrm>
          <a:prstGeom prst="rect">
            <a:avLst/>
          </a:prstGeom>
          <a:solidFill>
            <a:srgbClr val="14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9125712" y="1508760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F439"/>
                </a:solidFill>
                <a:latin typeface="Calibri"/>
              </a:rPr>
              <a:t>id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387584" y="15087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580"/>
                </a:solidFill>
                <a:latin typeface="Calibri"/>
              </a:rPr>
              <a:t>VARCHAR(64)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393424" y="150876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8F439"/>
                </a:solidFill>
                <a:latin typeface="Calibri"/>
              </a:rPr>
              <a:t>PK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125712" y="1801368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4EFE6"/>
                </a:solidFill>
                <a:latin typeface="Calibri"/>
              </a:rPr>
              <a:t>title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387584" y="18013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580"/>
                </a:solidFill>
                <a:latin typeface="Calibri"/>
              </a:rPr>
              <a:t>VARCHAR(255)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089136" y="2075688"/>
            <a:ext cx="2779776" cy="292608"/>
          </a:xfrm>
          <a:prstGeom prst="rect">
            <a:avLst/>
          </a:prstGeom>
          <a:solidFill>
            <a:srgbClr val="14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9125712" y="2093976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4EFE6"/>
                </a:solidFill>
                <a:latin typeface="Calibri"/>
              </a:rPr>
              <a:t>category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387584" y="209397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580"/>
                </a:solidFill>
                <a:latin typeface="Calibri"/>
              </a:rPr>
              <a:t>VARCHAR(100)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125712" y="2386584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4EFE6"/>
                </a:solidFill>
                <a:latin typeface="Calibri"/>
              </a:rPr>
              <a:t>client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387584" y="238658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580"/>
                </a:solidFill>
                <a:latin typeface="Calibri"/>
              </a:rPr>
              <a:t>VARCHAR(255)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089136" y="2660904"/>
            <a:ext cx="2779776" cy="292608"/>
          </a:xfrm>
          <a:prstGeom prst="rect">
            <a:avLst/>
          </a:prstGeom>
          <a:solidFill>
            <a:srgbClr val="14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125712" y="2679192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4EFE6"/>
                </a:solidFill>
                <a:latin typeface="Calibri"/>
              </a:rPr>
              <a:t>year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387584" y="267919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580"/>
                </a:solidFill>
                <a:latin typeface="Calibri"/>
              </a:rPr>
              <a:t>VARCHAR(10)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125712" y="2971800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4EFE6"/>
                </a:solidFill>
                <a:latin typeface="Calibri"/>
              </a:rPr>
              <a:t>description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387584" y="29718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580"/>
                </a:solidFill>
                <a:latin typeface="Calibri"/>
              </a:rPr>
              <a:t>TEXT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089136" y="3246120"/>
            <a:ext cx="2779776" cy="292608"/>
          </a:xfrm>
          <a:prstGeom prst="rect">
            <a:avLst/>
          </a:prstGeom>
          <a:solidFill>
            <a:srgbClr val="14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9125712" y="3264408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4EFE6"/>
                </a:solidFill>
                <a:latin typeface="Calibri"/>
              </a:rPr>
              <a:t>color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387584" y="32644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580"/>
                </a:solidFill>
                <a:latin typeface="Calibri"/>
              </a:rPr>
              <a:t>VARCHAR(20)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125712" y="3557016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4EFE6"/>
                </a:solidFill>
                <a:latin typeface="Calibri"/>
              </a:rPr>
              <a:t>stats_*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387584" y="355701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580"/>
                </a:solidFill>
                <a:latin typeface="Calibri"/>
              </a:rPr>
              <a:t>VARCHAR(100)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1393424" y="3557016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88580"/>
                </a:solidFill>
                <a:latin typeface="Calibri"/>
              </a:rPr>
              <a:t>×3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01168" y="4160520"/>
            <a:ext cx="2834640" cy="1700784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201168" y="4160520"/>
            <a:ext cx="2834640" cy="347472"/>
          </a:xfrm>
          <a:prstGeom prst="rect">
            <a:avLst/>
          </a:prstGeom>
          <a:solidFill>
            <a:srgbClr val="222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201168" y="4160520"/>
            <a:ext cx="54864" cy="1700784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310896" y="4215383"/>
            <a:ext cx="2670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F439"/>
                </a:solidFill>
                <a:latin typeface="Calibri"/>
              </a:rPr>
              <a:t>portfolio_tags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56032" y="4599431"/>
            <a:ext cx="2779776" cy="292608"/>
          </a:xfrm>
          <a:prstGeom prst="rect">
            <a:avLst/>
          </a:prstGeom>
          <a:solidFill>
            <a:srgbClr val="14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292608" y="4617719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F439"/>
                </a:solidFill>
                <a:latin typeface="Calibri"/>
              </a:rPr>
              <a:t>id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554480" y="4617719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580"/>
                </a:solidFill>
                <a:latin typeface="Calibri"/>
              </a:rPr>
              <a:t>INT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560320" y="4617719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8F439"/>
                </a:solidFill>
                <a:latin typeface="Calibri"/>
              </a:rPr>
              <a:t>PK AI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92608" y="4910327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580"/>
                </a:solidFill>
                <a:latin typeface="Calibri"/>
              </a:rPr>
              <a:t>portfolio_id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554480" y="4910327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580"/>
                </a:solidFill>
                <a:latin typeface="Calibri"/>
              </a:rPr>
              <a:t>VARCHAR(64)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560320" y="4910327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09AF5"/>
                </a:solidFill>
                <a:latin typeface="Calibri"/>
              </a:rPr>
              <a:t>FK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56032" y="5184647"/>
            <a:ext cx="2779776" cy="292608"/>
          </a:xfrm>
          <a:prstGeom prst="rect">
            <a:avLst/>
          </a:prstGeom>
          <a:solidFill>
            <a:srgbClr val="14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292608" y="5202935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4EFE6"/>
                </a:solidFill>
                <a:latin typeface="Calibri"/>
              </a:rPr>
              <a:t>tag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554480" y="5202935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580"/>
                </a:solidFill>
                <a:latin typeface="Calibri"/>
              </a:rPr>
              <a:t>VARCHAR(100)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92608" y="5495543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4EFE6"/>
                </a:solidFill>
                <a:latin typeface="Calibri"/>
              </a:rPr>
              <a:t>sort_order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554480" y="5495543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580"/>
                </a:solidFill>
                <a:latin typeface="Calibri"/>
              </a:rPr>
              <a:t>INT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3145536" y="4160520"/>
            <a:ext cx="2834640" cy="2286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3145536" y="4160520"/>
            <a:ext cx="2834640" cy="347472"/>
          </a:xfrm>
          <a:prstGeom prst="rect">
            <a:avLst/>
          </a:prstGeom>
          <a:solidFill>
            <a:srgbClr val="222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3145536" y="4160520"/>
            <a:ext cx="54864" cy="228600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3255264" y="4215383"/>
            <a:ext cx="2670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F439"/>
                </a:solidFill>
                <a:latin typeface="Calibri"/>
              </a:rPr>
              <a:t>team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3200400" y="4599431"/>
            <a:ext cx="2779776" cy="292608"/>
          </a:xfrm>
          <a:prstGeom prst="rect">
            <a:avLst/>
          </a:prstGeom>
          <a:solidFill>
            <a:srgbClr val="14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3236976" y="4617719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F439"/>
                </a:solidFill>
                <a:latin typeface="Calibri"/>
              </a:rPr>
              <a:t>id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498848" y="4617719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580"/>
                </a:solidFill>
                <a:latin typeface="Calibri"/>
              </a:rPr>
              <a:t>INT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504688" y="4617719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8F439"/>
                </a:solidFill>
                <a:latin typeface="Calibri"/>
              </a:rPr>
              <a:t>PK AI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236976" y="4910327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4EFE6"/>
                </a:solidFill>
                <a:latin typeface="Calibri"/>
              </a:rPr>
              <a:t>name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498848" y="4910327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580"/>
                </a:solidFill>
                <a:latin typeface="Calibri"/>
              </a:rPr>
              <a:t>VARCHAR(255)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3200400" y="5184647"/>
            <a:ext cx="2779776" cy="292608"/>
          </a:xfrm>
          <a:prstGeom prst="rect">
            <a:avLst/>
          </a:prstGeom>
          <a:solidFill>
            <a:srgbClr val="14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3236976" y="5202935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4EFE6"/>
                </a:solidFill>
                <a:latin typeface="Calibri"/>
              </a:rPr>
              <a:t>role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498848" y="5202935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580"/>
                </a:solidFill>
                <a:latin typeface="Calibri"/>
              </a:rPr>
              <a:t>VARCHAR(255)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236976" y="5495543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4EFE6"/>
                </a:solidFill>
                <a:latin typeface="Calibri"/>
              </a:rPr>
              <a:t>bio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498848" y="5495543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580"/>
                </a:solidFill>
                <a:latin typeface="Calibri"/>
              </a:rPr>
              <a:t>TEXT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3200400" y="5769864"/>
            <a:ext cx="2779776" cy="292608"/>
          </a:xfrm>
          <a:prstGeom prst="rect">
            <a:avLst/>
          </a:prstGeom>
          <a:solidFill>
            <a:srgbClr val="14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3236976" y="5788151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4EFE6"/>
                </a:solidFill>
                <a:latin typeface="Calibri"/>
              </a:rPr>
              <a:t>initials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498848" y="5788151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580"/>
                </a:solidFill>
                <a:latin typeface="Calibri"/>
              </a:rPr>
              <a:t>VARCHAR(5)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236976" y="6080759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4EFE6"/>
                </a:solidFill>
                <a:latin typeface="Calibri"/>
              </a:rPr>
              <a:t>color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498848" y="6080759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580"/>
                </a:solidFill>
                <a:latin typeface="Calibri"/>
              </a:rPr>
              <a:t>VARCHAR(20)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6089904" y="4160520"/>
            <a:ext cx="2834640" cy="1408176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6089904" y="4160520"/>
            <a:ext cx="2834640" cy="347472"/>
          </a:xfrm>
          <a:prstGeom prst="rect">
            <a:avLst/>
          </a:prstGeom>
          <a:solidFill>
            <a:srgbClr val="222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ectangle 138"/>
          <p:cNvSpPr/>
          <p:nvPr/>
        </p:nvSpPr>
        <p:spPr>
          <a:xfrm>
            <a:off x="6089904" y="4160520"/>
            <a:ext cx="54864" cy="1408176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6199632" y="4215383"/>
            <a:ext cx="2670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F439"/>
                </a:solidFill>
                <a:latin typeface="Calibri"/>
              </a:rPr>
              <a:t>analytics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144768" y="4599431"/>
            <a:ext cx="2779776" cy="292608"/>
          </a:xfrm>
          <a:prstGeom prst="rect">
            <a:avLst/>
          </a:prstGeom>
          <a:solidFill>
            <a:srgbClr val="14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6181344" y="4617719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F439"/>
                </a:solidFill>
                <a:latin typeface="Calibri"/>
              </a:rPr>
              <a:t>id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443216" y="4617719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580"/>
                </a:solidFill>
                <a:latin typeface="Calibri"/>
              </a:rPr>
              <a:t>INT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449056" y="4617719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8F439"/>
                </a:solidFill>
                <a:latin typeface="Calibri"/>
              </a:rPr>
              <a:t>PK AI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181344" y="4910327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4EFE6"/>
                </a:solidFill>
                <a:latin typeface="Calibri"/>
              </a:rPr>
              <a:t>total_orders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7443216" y="4910327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580"/>
                </a:solidFill>
                <a:latin typeface="Calibri"/>
              </a:rPr>
              <a:t>INT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144768" y="5184647"/>
            <a:ext cx="2779776" cy="292608"/>
          </a:xfrm>
          <a:prstGeom prst="rect">
            <a:avLst/>
          </a:prstGeom>
          <a:solidFill>
            <a:srgbClr val="14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6181344" y="5202935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4EFE6"/>
                </a:solidFill>
                <a:latin typeface="Calibri"/>
              </a:rPr>
              <a:t>total_revenue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443216" y="5202935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580"/>
                </a:solidFill>
                <a:latin typeface="Calibri"/>
              </a:rPr>
              <a:t>INT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9034272" y="4160520"/>
            <a:ext cx="2834640" cy="1700784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9034272" y="4160520"/>
            <a:ext cx="2834640" cy="347472"/>
          </a:xfrm>
          <a:prstGeom prst="rect">
            <a:avLst/>
          </a:prstGeom>
          <a:solidFill>
            <a:srgbClr val="222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9034272" y="4160520"/>
            <a:ext cx="54864" cy="1700784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9144000" y="4215383"/>
            <a:ext cx="2670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F439"/>
                </a:solidFill>
                <a:latin typeface="Calibri"/>
              </a:rPr>
              <a:t>analytics_orders_by_day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9089136" y="4599431"/>
            <a:ext cx="2779776" cy="292608"/>
          </a:xfrm>
          <a:prstGeom prst="rect">
            <a:avLst/>
          </a:prstGeom>
          <a:solidFill>
            <a:srgbClr val="14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9125712" y="4617719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F439"/>
                </a:solidFill>
                <a:latin typeface="Calibri"/>
              </a:rPr>
              <a:t>id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0387584" y="4617719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580"/>
                </a:solidFill>
                <a:latin typeface="Calibri"/>
              </a:rPr>
              <a:t>INT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1393424" y="4617719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8F439"/>
                </a:solidFill>
                <a:latin typeface="Calibri"/>
              </a:rPr>
              <a:t>PK AI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125712" y="4910327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580"/>
                </a:solidFill>
                <a:latin typeface="Calibri"/>
              </a:rPr>
              <a:t>analytics_id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0387584" y="4910327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580"/>
                </a:solidFill>
                <a:latin typeface="Calibri"/>
              </a:rPr>
              <a:t>INT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1393424" y="4910327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09AF5"/>
                </a:solidFill>
                <a:latin typeface="Calibri"/>
              </a:rPr>
              <a:t>FK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9089136" y="5184647"/>
            <a:ext cx="2779776" cy="292608"/>
          </a:xfrm>
          <a:prstGeom prst="rect">
            <a:avLst/>
          </a:prstGeom>
          <a:solidFill>
            <a:srgbClr val="14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9125712" y="5202935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4EFE6"/>
                </a:solidFill>
                <a:latin typeface="Calibri"/>
              </a:rPr>
              <a:t>date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387584" y="5202935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580"/>
                </a:solidFill>
                <a:latin typeface="Calibri"/>
              </a:rPr>
              <a:t>DATE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1393424" y="5202935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88580"/>
                </a:solidFill>
                <a:latin typeface="Calibri"/>
              </a:rPr>
              <a:t>UNIQUE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9125712" y="5495543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4EFE6"/>
                </a:solidFill>
                <a:latin typeface="Calibri"/>
              </a:rPr>
              <a:t>count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0387584" y="5495543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580"/>
                </a:solidFill>
                <a:latin typeface="Calibri"/>
              </a:rPr>
              <a:t>INT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201168" y="6473952"/>
            <a:ext cx="1170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8580"/>
                </a:solidFill>
                <a:latin typeface="Calibri"/>
              </a:rPr>
              <a:t>PK = первичный ключ  ·  FK = внешний ключ  ·  AI = AUTO_INCREMENT  ·  Не показано: site_hero, site_about, site_cta, site_footer, clients, stats, company_values, contacts, social_links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4EFE6"/>
                </a:solidFill>
                <a:latin typeface="Calibri"/>
              </a:rPr>
              <a:t>Экранные формы — 1. Главная страница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580"/>
                </a:solidFill>
                <a:latin typeface="Calibri"/>
              </a:rPr>
              <a:t>Hero-блок, счётчики, портфолио preview, услуги preview, CTA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695" cy="54864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32720" y="658368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580"/>
                </a:solidFill>
                <a:latin typeface="Calibri"/>
              </a:rPr>
              <a:t>DFORM Studio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51560"/>
            <a:ext cx="6949440" cy="534924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051560"/>
            <a:ext cx="6949440" cy="4572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1879092"/>
            <a:ext cx="6803136" cy="36301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0040" y="6236208"/>
            <a:ext cx="6949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888580"/>
                </a:solidFill>
                <a:latin typeface="Calibri"/>
              </a:rPr>
              <a:t>Рисунок 1 — Главная страница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16368" y="1051560"/>
            <a:ext cx="4370832" cy="5349240"/>
          </a:xfrm>
          <a:prstGeom prst="rect">
            <a:avLst/>
          </a:prstGeom>
          <a:solidFill>
            <a:srgbClr val="222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516368" y="1051560"/>
            <a:ext cx="4370832" cy="4572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99248" y="1161288"/>
            <a:ext cx="397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439"/>
                </a:solidFill>
                <a:latin typeface="Calibri"/>
              </a:rPr>
              <a:t>Ключевые особенности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16368" y="1664208"/>
            <a:ext cx="64008" cy="54864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17536" y="17373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EFE6"/>
                </a:solidFill>
                <a:latin typeface="Calibri"/>
              </a:rPr>
              <a:t>Полноэкранный hero с заголовком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16368" y="2542032"/>
            <a:ext cx="64008" cy="54864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17536" y="2615184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EFE6"/>
                </a:solidFill>
                <a:latin typeface="Calibri"/>
              </a:rPr>
              <a:t>Счётчики (150+ проектов, 5 лет)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16368" y="3419856"/>
            <a:ext cx="64008" cy="54864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17536" y="3493008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EFE6"/>
                </a:solidFill>
                <a:latin typeface="Calibri"/>
              </a:rPr>
              <a:t>Превью портфолио (3 кейса)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16368" y="4297680"/>
            <a:ext cx="64008" cy="54864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17536" y="437083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EFE6"/>
                </a:solidFill>
                <a:latin typeface="Calibri"/>
              </a:rPr>
              <a:t>Превью услуг (карточки)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16368" y="5175504"/>
            <a:ext cx="64008" cy="54864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17536" y="5248656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EFE6"/>
                </a:solidFill>
                <a:latin typeface="Calibri"/>
              </a:rPr>
              <a:t>CTA-блок с кнопкой заказа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4EFE6"/>
                </a:solidFill>
                <a:latin typeface="Calibri"/>
              </a:rPr>
              <a:t>Экранные формы — 2. Страница портфолио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580"/>
                </a:solidFill>
                <a:latin typeface="Calibri"/>
              </a:rPr>
              <a:t>Сетка проектов с фильтрацией по категориям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695" cy="54864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32720" y="658368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580"/>
                </a:solidFill>
                <a:latin typeface="Calibri"/>
              </a:rPr>
              <a:t>DFORM Studio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51560"/>
            <a:ext cx="6949440" cy="534924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051560"/>
            <a:ext cx="6949440" cy="4572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1913522"/>
            <a:ext cx="6803136" cy="35112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0040" y="6236208"/>
            <a:ext cx="6949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888580"/>
                </a:solidFill>
                <a:latin typeface="Calibri"/>
              </a:rPr>
              <a:t>Рисунок 2 — Страница портфолио с фильтрацией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16368" y="1051560"/>
            <a:ext cx="4370832" cy="5349240"/>
          </a:xfrm>
          <a:prstGeom prst="rect">
            <a:avLst/>
          </a:prstGeom>
          <a:solidFill>
            <a:srgbClr val="222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516368" y="1051560"/>
            <a:ext cx="4370832" cy="4572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99248" y="1161288"/>
            <a:ext cx="397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439"/>
                </a:solidFill>
                <a:latin typeface="Calibri"/>
              </a:rPr>
              <a:t>Ключевые особенности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16368" y="1664208"/>
            <a:ext cx="64008" cy="54864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17536" y="17373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EFE6"/>
                </a:solidFill>
                <a:latin typeface="Calibri"/>
              </a:rPr>
              <a:t>Фильтрация по категориям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16368" y="2542032"/>
            <a:ext cx="64008" cy="54864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17536" y="2615184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EFE6"/>
                </a:solidFill>
                <a:latin typeface="Calibri"/>
              </a:rPr>
              <a:t>Карточки с акцентным цветом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16368" y="3419856"/>
            <a:ext cx="64008" cy="54864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17536" y="3493008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EFE6"/>
                </a:solidFill>
                <a:latin typeface="Calibri"/>
              </a:rPr>
              <a:t>Детальная страница кейса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16368" y="4297680"/>
            <a:ext cx="64008" cy="54864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17536" y="437083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EFE6"/>
                </a:solidFill>
                <a:latin typeface="Calibri"/>
              </a:rPr>
              <a:t>Теги и статистика проекта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16368" y="5175504"/>
            <a:ext cx="64008" cy="54864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17536" y="5248656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EFE6"/>
                </a:solidFill>
                <a:latin typeface="Calibri"/>
              </a:rPr>
              <a:t>Клиентская фильтрация (без запросов)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4EFE6"/>
                </a:solidFill>
                <a:latin typeface="Calibri"/>
              </a:rPr>
              <a:t>Экранные формы — 3. Страница услуг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580"/>
                </a:solidFill>
                <a:latin typeface="Calibri"/>
              </a:rPr>
              <a:t>Карточки услуг с ценами и перечнем работ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695" cy="54864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32720" y="658368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580"/>
                </a:solidFill>
                <a:latin typeface="Calibri"/>
              </a:rPr>
              <a:t>DFORM Studio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51560"/>
            <a:ext cx="6949440" cy="534924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051560"/>
            <a:ext cx="6949440" cy="4572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1956815"/>
            <a:ext cx="6803136" cy="341985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0040" y="6236208"/>
            <a:ext cx="6949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888580"/>
                </a:solidFill>
                <a:latin typeface="Calibri"/>
              </a:rPr>
              <a:t>Рисунок 3 — Страница услуг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16368" y="1051560"/>
            <a:ext cx="4370832" cy="5349240"/>
          </a:xfrm>
          <a:prstGeom prst="rect">
            <a:avLst/>
          </a:prstGeom>
          <a:solidFill>
            <a:srgbClr val="222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516368" y="1051560"/>
            <a:ext cx="4370832" cy="4572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99248" y="1161288"/>
            <a:ext cx="397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439"/>
                </a:solidFill>
                <a:latin typeface="Calibri"/>
              </a:rPr>
              <a:t>Ключевые особенности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16368" y="1664208"/>
            <a:ext cx="64008" cy="54864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17536" y="17373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EFE6"/>
                </a:solidFill>
                <a:latin typeface="Calibri"/>
              </a:rPr>
              <a:t>Иконка + название услуги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16368" y="2542032"/>
            <a:ext cx="64008" cy="54864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17536" y="2615184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EFE6"/>
                </a:solidFill>
                <a:latin typeface="Calibri"/>
              </a:rPr>
              <a:t>Описание и ценовой ориентир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16368" y="3419856"/>
            <a:ext cx="64008" cy="54864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17536" y="3493008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EFE6"/>
                </a:solidFill>
                <a:latin typeface="Calibri"/>
              </a:rPr>
              <a:t>Срок выполнения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16368" y="4297680"/>
            <a:ext cx="64008" cy="54864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17536" y="437083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EFE6"/>
                </a:solidFill>
                <a:latin typeface="Calibri"/>
              </a:rPr>
              <a:t>Перечень включённых работ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16368" y="5175504"/>
            <a:ext cx="64008" cy="54864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17536" y="5248656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EFE6"/>
                </a:solidFill>
                <a:latin typeface="Calibri"/>
              </a:rPr>
              <a:t>Кнопка оформления заказа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4EFE6"/>
                </a:solidFill>
                <a:latin typeface="Calibri"/>
              </a:rPr>
              <a:t>Экранные формы — 4. Страница «О студии»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580"/>
                </a:solidFill>
                <a:latin typeface="Calibri"/>
              </a:rPr>
              <a:t>История, команда, ценности, клиенты, статистика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695" cy="54864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32720" y="658368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580"/>
                </a:solidFill>
                <a:latin typeface="Calibri"/>
              </a:rPr>
              <a:t>DFORM Studio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51560"/>
            <a:ext cx="6949440" cy="534924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051560"/>
            <a:ext cx="6949440" cy="4572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1990500"/>
            <a:ext cx="6803136" cy="33313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0040" y="6236208"/>
            <a:ext cx="6949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888580"/>
                </a:solidFill>
                <a:latin typeface="Calibri"/>
              </a:rPr>
              <a:t>Рисунок 4 — Страница «О студии»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16368" y="1051560"/>
            <a:ext cx="4370832" cy="5349240"/>
          </a:xfrm>
          <a:prstGeom prst="rect">
            <a:avLst/>
          </a:prstGeom>
          <a:solidFill>
            <a:srgbClr val="222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516368" y="1051560"/>
            <a:ext cx="4370832" cy="4572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99248" y="1161288"/>
            <a:ext cx="397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439"/>
                </a:solidFill>
                <a:latin typeface="Calibri"/>
              </a:rPr>
              <a:t>Ключевые особенности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16368" y="1664208"/>
            <a:ext cx="64008" cy="54864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17536" y="17373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EFE6"/>
                </a:solidFill>
                <a:latin typeface="Calibri"/>
              </a:rPr>
              <a:t>История студии (текст из CMS)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16368" y="2542032"/>
            <a:ext cx="64008" cy="54864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17536" y="2615184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EFE6"/>
                </a:solidFill>
                <a:latin typeface="Calibri"/>
              </a:rPr>
              <a:t>Карточки команды с аватарами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16368" y="3419856"/>
            <a:ext cx="64008" cy="54864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17536" y="3493008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EFE6"/>
                </a:solidFill>
                <a:latin typeface="Calibri"/>
              </a:rPr>
              <a:t>Блок ценностей компании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16368" y="4297680"/>
            <a:ext cx="64008" cy="54864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17536" y="437083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EFE6"/>
                </a:solidFill>
                <a:latin typeface="Calibri"/>
              </a:rPr>
              <a:t>Список клиентов студии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16368" y="5175504"/>
            <a:ext cx="64008" cy="54864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17536" y="5248656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EFE6"/>
                </a:solidFill>
                <a:latin typeface="Calibri"/>
              </a:rPr>
              <a:t>Числовые показатели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4EFE6"/>
                </a:solidFill>
                <a:latin typeface="Calibri"/>
              </a:rPr>
              <a:t>Экранные формы — 5. Форма заказа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580"/>
                </a:solidFill>
                <a:latin typeface="Calibri"/>
              </a:rPr>
              <a:t>Многошаговая форма: услуга → описание → бюджет → контакты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695" cy="54864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32720" y="658368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580"/>
                </a:solidFill>
                <a:latin typeface="Calibri"/>
              </a:rPr>
              <a:t>DFORM Studio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51560"/>
            <a:ext cx="6949440" cy="534924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051560"/>
            <a:ext cx="6949440" cy="4572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1965960"/>
            <a:ext cx="6803136" cy="322783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0040" y="6236208"/>
            <a:ext cx="6949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888580"/>
                </a:solidFill>
                <a:latin typeface="Calibri"/>
              </a:rPr>
              <a:t>Рисунок 6 — Форма заказа, шаг 1 — выбор услуги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16368" y="1051560"/>
            <a:ext cx="4370832" cy="5349240"/>
          </a:xfrm>
          <a:prstGeom prst="rect">
            <a:avLst/>
          </a:prstGeom>
          <a:solidFill>
            <a:srgbClr val="222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516368" y="1051560"/>
            <a:ext cx="4370832" cy="4572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99248" y="1161288"/>
            <a:ext cx="397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439"/>
                </a:solidFill>
                <a:latin typeface="Calibri"/>
              </a:rPr>
              <a:t>Ключевые особенности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16368" y="1664208"/>
            <a:ext cx="64008" cy="54864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17536" y="17373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EFE6"/>
                </a:solidFill>
                <a:latin typeface="Calibri"/>
              </a:rPr>
              <a:t>Шаг 1: выбор услуги (карточки)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16368" y="2542032"/>
            <a:ext cx="64008" cy="54864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17536" y="2615184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EFE6"/>
                </a:solidFill>
                <a:latin typeface="Calibri"/>
              </a:rPr>
              <a:t>Шаг 2: описание задачи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16368" y="3419856"/>
            <a:ext cx="64008" cy="54864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17536" y="3493008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EFE6"/>
                </a:solidFill>
                <a:latin typeface="Calibri"/>
              </a:rPr>
              <a:t>Шаг 3: бюджет (опционально)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16368" y="4297680"/>
            <a:ext cx="64008" cy="54864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17536" y="437083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EFE6"/>
                </a:solidFill>
                <a:latin typeface="Calibri"/>
              </a:rPr>
              <a:t>Шаг 4: контактные данные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16368" y="5175504"/>
            <a:ext cx="64008" cy="54864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17536" y="5248656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EFE6"/>
                </a:solidFill>
                <a:latin typeface="Calibri"/>
              </a:rPr>
              <a:t>Индикатор прогресса + валидация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4EFE6"/>
                </a:solidFill>
                <a:latin typeface="Calibri"/>
              </a:rPr>
              <a:t>Экранные формы — 6. Административная панель — Заказы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580"/>
                </a:solidFill>
                <a:latin typeface="Calibri"/>
              </a:rPr>
              <a:t>Список заявок, детальное модальное окно, смена статуса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695" cy="54864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32720" y="658368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580"/>
                </a:solidFill>
                <a:latin typeface="Calibri"/>
              </a:rPr>
              <a:t>DFORM Studio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51560"/>
            <a:ext cx="6949440" cy="534924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051560"/>
            <a:ext cx="6949440" cy="4572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2039112"/>
            <a:ext cx="6803136" cy="3246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0040" y="6236208"/>
            <a:ext cx="6949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888580"/>
                </a:solidFill>
                <a:latin typeface="Calibri"/>
              </a:rPr>
              <a:t>Рисунок 9 — Список заявок в административной панели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16368" y="1051560"/>
            <a:ext cx="4370832" cy="5349240"/>
          </a:xfrm>
          <a:prstGeom prst="rect">
            <a:avLst/>
          </a:prstGeom>
          <a:solidFill>
            <a:srgbClr val="222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516368" y="1051560"/>
            <a:ext cx="4370832" cy="4572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99248" y="1161288"/>
            <a:ext cx="397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439"/>
                </a:solidFill>
                <a:latin typeface="Calibri"/>
              </a:rPr>
              <a:t>Ключевые особенности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16368" y="1664208"/>
            <a:ext cx="64008" cy="54864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17536" y="17373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EFE6"/>
                </a:solidFill>
                <a:latin typeface="Calibri"/>
              </a:rPr>
              <a:t>Таблица заявок (новые сверху)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16368" y="2542032"/>
            <a:ext cx="64008" cy="54864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17536" y="2615184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EFE6"/>
                </a:solidFill>
                <a:latin typeface="Calibri"/>
              </a:rPr>
              <a:t>Цветовое кодирование статусов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16368" y="3419856"/>
            <a:ext cx="64008" cy="54864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17536" y="3493008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EFE6"/>
                </a:solidFill>
                <a:latin typeface="Calibri"/>
              </a:rPr>
              <a:t>Модальное окно с деталями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16368" y="4297680"/>
            <a:ext cx="64008" cy="54864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17536" y="437083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EFE6"/>
                </a:solidFill>
                <a:latin typeface="Calibri"/>
              </a:rPr>
              <a:t>Активные ссылки: mailto + tel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16368" y="5175504"/>
            <a:ext cx="64008" cy="54864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17536" y="5248656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EFE6"/>
                </a:solidFill>
                <a:latin typeface="Calibri"/>
              </a:rPr>
              <a:t>Смена статуса без перезагрузки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4EFE6"/>
                </a:solidFill>
                <a:latin typeface="Calibri"/>
              </a:rPr>
              <a:t>Экранные формы — 7. Административная панель — CMS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580"/>
                </a:solidFill>
                <a:latin typeface="Calibri"/>
              </a:rPr>
              <a:t>Управление контентом всех разделов сайта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695" cy="54864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32720" y="658368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580"/>
                </a:solidFill>
                <a:latin typeface="Calibri"/>
              </a:rPr>
              <a:t>DFORM Studio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51560"/>
            <a:ext cx="6949440" cy="534924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051560"/>
            <a:ext cx="6949440" cy="4572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1906524"/>
            <a:ext cx="6803136" cy="31729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0040" y="6236208"/>
            <a:ext cx="6949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888580"/>
                </a:solidFill>
                <a:latin typeface="Calibri"/>
              </a:rPr>
              <a:t>Рисунок 12 — Форма редактирования проекта в портфолио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16368" y="1051560"/>
            <a:ext cx="4370832" cy="5349240"/>
          </a:xfrm>
          <a:prstGeom prst="rect">
            <a:avLst/>
          </a:prstGeom>
          <a:solidFill>
            <a:srgbClr val="222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516368" y="1051560"/>
            <a:ext cx="4370832" cy="4572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99248" y="1161288"/>
            <a:ext cx="397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439"/>
                </a:solidFill>
                <a:latin typeface="Calibri"/>
              </a:rPr>
              <a:t>Ключевые особенности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16368" y="1664208"/>
            <a:ext cx="64008" cy="54864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17536" y="17373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EFE6"/>
                </a:solidFill>
                <a:latin typeface="Calibri"/>
              </a:rPr>
              <a:t>Редактирование портфолио (+ теги)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16368" y="2542032"/>
            <a:ext cx="64008" cy="54864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17536" y="2615184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EFE6"/>
                </a:solidFill>
                <a:latin typeface="Calibri"/>
              </a:rPr>
              <a:t>Управление услугами (+ список работ)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16368" y="3419856"/>
            <a:ext cx="64008" cy="54864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17536" y="3493008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EFE6"/>
                </a:solidFill>
                <a:latin typeface="Calibri"/>
              </a:rPr>
              <a:t>Редактирование команды (аватар)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16368" y="4297680"/>
            <a:ext cx="64008" cy="54864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17536" y="437083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EFE6"/>
                </a:solidFill>
                <a:latin typeface="Calibri"/>
              </a:rPr>
              <a:t>9 подразделов настроек сайта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16368" y="5175504"/>
            <a:ext cx="64008" cy="54864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17536" y="5248656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EFE6"/>
                </a:solidFill>
                <a:latin typeface="Calibri"/>
              </a:rPr>
              <a:t>Изменения → мгновенно на сайте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4EFE6"/>
                </a:solidFill>
                <a:latin typeface="Calibri"/>
              </a:rPr>
              <a:t>Экранные формы — 8. Модуль аналитики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580"/>
                </a:solidFill>
                <a:latin typeface="Calibri"/>
              </a:rPr>
              <a:t>Сводные показатели, график, распределение по статусам и услугам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695" cy="54864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32720" y="658368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580"/>
                </a:solidFill>
                <a:latin typeface="Calibri"/>
              </a:rPr>
              <a:t>DFORM Studio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51560"/>
            <a:ext cx="6949440" cy="534924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051560"/>
            <a:ext cx="6949440" cy="4572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2043684"/>
            <a:ext cx="6803136" cy="3246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0040" y="6236208"/>
            <a:ext cx="6949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888580"/>
                </a:solidFill>
                <a:latin typeface="Calibri"/>
              </a:rPr>
              <a:t>Рисунок 11 — Аналитический дашборд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16368" y="1051560"/>
            <a:ext cx="4370832" cy="5349240"/>
          </a:xfrm>
          <a:prstGeom prst="rect">
            <a:avLst/>
          </a:prstGeom>
          <a:solidFill>
            <a:srgbClr val="222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516368" y="1051560"/>
            <a:ext cx="4370832" cy="4572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99248" y="1161288"/>
            <a:ext cx="397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439"/>
                </a:solidFill>
                <a:latin typeface="Calibri"/>
              </a:rPr>
              <a:t>Ключевые особенности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16368" y="1664208"/>
            <a:ext cx="64008" cy="54864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17536" y="17373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EFE6"/>
                </a:solidFill>
                <a:latin typeface="Calibri"/>
              </a:rPr>
              <a:t>Карточки: всего / новых / в работе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16368" y="2542032"/>
            <a:ext cx="64008" cy="54864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17536" y="2615184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EFE6"/>
                </a:solidFill>
                <a:latin typeface="Calibri"/>
              </a:rPr>
              <a:t>Линейный SVG-график (30 дней)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16368" y="3419856"/>
            <a:ext cx="64008" cy="54864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17536" y="3493008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EFE6"/>
                </a:solidFill>
                <a:latin typeface="Calibri"/>
              </a:rPr>
              <a:t>Распределение по статусам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16368" y="4297680"/>
            <a:ext cx="64008" cy="54864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17536" y="437083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EFE6"/>
                </a:solidFill>
                <a:latin typeface="Calibri"/>
              </a:rPr>
              <a:t>Распределение по услугам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16368" y="5175504"/>
            <a:ext cx="64008" cy="54864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17536" y="5248656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EFE6"/>
                </a:solidFill>
                <a:latin typeface="Calibri"/>
              </a:rPr>
              <a:t>Кнопка обновления данных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4EFE6"/>
                </a:solidFill>
                <a:latin typeface="Calibri"/>
              </a:rPr>
              <a:t>Экранные формы — 9. Адаптивная вёрстка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580"/>
                </a:solidFill>
                <a:latin typeface="Calibri"/>
              </a:rPr>
              <a:t>Корректное отображение от 320px до 1920px на всех устройствах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695" cy="54864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32720" y="658368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580"/>
                </a:solidFill>
                <a:latin typeface="Calibri"/>
              </a:rPr>
              <a:t>DFORM Studio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51560"/>
            <a:ext cx="6949440" cy="534924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051560"/>
            <a:ext cx="6949440" cy="4572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992" y="1106425"/>
            <a:ext cx="2704571" cy="509320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0040" y="6236208"/>
            <a:ext cx="6949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888580"/>
                </a:solidFill>
                <a:latin typeface="Calibri"/>
              </a:rPr>
              <a:t>Рисунок 13 — Сравнение десктопного и мобильного вида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16368" y="1051560"/>
            <a:ext cx="4370832" cy="5349240"/>
          </a:xfrm>
          <a:prstGeom prst="rect">
            <a:avLst/>
          </a:prstGeom>
          <a:solidFill>
            <a:srgbClr val="222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516368" y="1051560"/>
            <a:ext cx="4370832" cy="4572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99248" y="1161288"/>
            <a:ext cx="397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439"/>
                </a:solidFill>
                <a:latin typeface="Calibri"/>
              </a:rPr>
              <a:t>Ключевые особенности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16368" y="1664208"/>
            <a:ext cx="64008" cy="54864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17536" y="17373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EFE6"/>
                </a:solidFill>
                <a:latin typeface="Calibri"/>
              </a:rPr>
              <a:t>CSS media queries (768px, 480px)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16368" y="2542032"/>
            <a:ext cx="64008" cy="54864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17536" y="2615184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EFE6"/>
                </a:solidFill>
                <a:latin typeface="Calibri"/>
              </a:rPr>
              <a:t>Мобильное меню навигации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16368" y="3419856"/>
            <a:ext cx="64008" cy="54864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17536" y="3493008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EFE6"/>
                </a:solidFill>
                <a:latin typeface="Calibri"/>
              </a:rPr>
              <a:t>Одноколоночные сетки на mobile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16368" y="4297680"/>
            <a:ext cx="64008" cy="54864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17536" y="437083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EFE6"/>
                </a:solidFill>
                <a:latin typeface="Calibri"/>
              </a:rPr>
              <a:t>clamp() для масштабирования шрифтов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16368" y="5175504"/>
            <a:ext cx="64008" cy="54864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17536" y="5248656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EFE6"/>
                </a:solidFill>
                <a:latin typeface="Calibri"/>
              </a:rPr>
              <a:t>Протестировано: iPhone SE, iPad, FHD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4EFE6"/>
                </a:solidFill>
                <a:latin typeface="Calibri"/>
              </a:rPr>
              <a:t>Результаты тестирования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54864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32720" y="658368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580"/>
                </a:solidFill>
                <a:latin typeface="Calibri"/>
              </a:rPr>
              <a:t>DFORM 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15568"/>
            <a:ext cx="3749039" cy="224028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115568"/>
            <a:ext cx="3749039" cy="54864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439"/>
                </a:solidFill>
                <a:latin typeface="Calibri"/>
              </a:rPr>
              <a:t>Функциональное
тестирование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65376"/>
            <a:ext cx="33832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EFE6"/>
                </a:solidFill>
                <a:latin typeface="Calibri"/>
              </a:rPr>
              <a:t>Все ключевые сценарии пройдены:
заказ, аутентификация, CMS, аналитика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26080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F439"/>
                </a:solidFill>
                <a:latin typeface="Calibri"/>
              </a:rPr>
              <a:t>✓  Пройдено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115568"/>
            <a:ext cx="3749039" cy="224028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115568"/>
            <a:ext cx="3749039" cy="54864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1280160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439"/>
                </a:solidFill>
                <a:latin typeface="Calibri"/>
              </a:rPr>
              <a:t>Кросс-браузерное
тестирование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865376"/>
            <a:ext cx="33832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EFE6"/>
                </a:solidFill>
                <a:latin typeface="Calibri"/>
              </a:rPr>
              <a:t>Chrome, Firefox, Edge, Safari —
все браузеры работают корректно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926080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F439"/>
                </a:solidFill>
                <a:latin typeface="Calibri"/>
              </a:rPr>
              <a:t>✓  Пройдено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1115568"/>
            <a:ext cx="3749039" cy="224028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321040" y="1115568"/>
            <a:ext cx="3749039" cy="54864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19" y="1280160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439"/>
                </a:solidFill>
                <a:latin typeface="Calibri"/>
              </a:rPr>
              <a:t>Адаптивность
320 – 1920px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19" y="1865376"/>
            <a:ext cx="33832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EFE6"/>
                </a:solidFill>
                <a:latin typeface="Calibri"/>
              </a:rPr>
              <a:t>iPhone SE, iPhone 12, iPad, Full HD —
без замечаний ко всем форматам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2926080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F439"/>
                </a:solidFill>
                <a:latin typeface="Calibri"/>
              </a:rPr>
              <a:t>✓  Пройдено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538728"/>
            <a:ext cx="3749039" cy="224028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3538728"/>
            <a:ext cx="3749039" cy="54864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3703320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439"/>
                </a:solidFill>
                <a:latin typeface="Calibri"/>
              </a:rPr>
              <a:t>Безопасность
админ-панели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88536"/>
            <a:ext cx="33832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EFE6"/>
                </a:solidFill>
                <a:latin typeface="Calibri"/>
              </a:rPr>
              <a:t>401 без сессии, bcrypt-пароли,
HttpOnly cookies, CORS настроен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349240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F439"/>
                </a:solidFill>
                <a:latin typeface="Calibri"/>
              </a:rPr>
              <a:t>✓  Пройдено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3538728"/>
            <a:ext cx="3749039" cy="224028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43400" y="3538728"/>
            <a:ext cx="3749039" cy="54864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26280" y="3703320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439"/>
                </a:solidFill>
                <a:latin typeface="Calibri"/>
              </a:rPr>
              <a:t>Производительность
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4288536"/>
            <a:ext cx="33832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EFE6"/>
                </a:solidFill>
                <a:latin typeface="Calibri"/>
              </a:rPr>
              <a:t>Время ответа API &lt; 200 мс,
загрузка страниц &lt; 2 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5349240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F439"/>
                </a:solidFill>
                <a:latin typeface="Calibri"/>
              </a:rPr>
              <a:t>✓  Норма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21040" y="3538728"/>
            <a:ext cx="3749039" cy="224028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321040" y="3538728"/>
            <a:ext cx="3749039" cy="54864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03919" y="3703320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439"/>
                </a:solidFill>
                <a:latin typeface="Calibri"/>
              </a:rPr>
              <a:t>Выявленные дефекты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19" y="4288536"/>
            <a:ext cx="33832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EFE6"/>
                </a:solidFill>
                <a:latin typeface="Calibri"/>
              </a:rPr>
              <a:t>3 дефекта обнаружено и устранено:
SVG/Safari, CORS, service_features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19" y="5349240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F439"/>
                </a:solidFill>
                <a:latin typeface="Calibri"/>
              </a:rPr>
              <a:t>→  Исправлено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4EFE6"/>
                </a:solidFill>
                <a:latin typeface="Calibri"/>
              </a:rPr>
              <a:t>Выводы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54864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32720" y="658368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580"/>
                </a:solidFill>
                <a:latin typeface="Calibri"/>
              </a:rPr>
              <a:t>DFORM 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15568"/>
            <a:ext cx="420624" cy="676656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243584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C0C0E"/>
                </a:solidFill>
                <a:latin typeface="Calibr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" y="1115568"/>
            <a:ext cx="10972800" cy="676656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1170432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439"/>
                </a:solidFill>
                <a:latin typeface="Calibri"/>
              </a:rPr>
              <a:t>Цель достигнута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1481328"/>
            <a:ext cx="10652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4EFE6"/>
                </a:solidFill>
                <a:latin typeface="Calibri"/>
              </a:rPr>
              <a:t>Корпоративный сайт с онлайн-заказами, CMS и аналитикой спроектирован и реализован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029967"/>
            <a:ext cx="420624" cy="676656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2157984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C0C0E"/>
                </a:solidFill>
                <a:latin typeface="Calibri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" y="2029967"/>
            <a:ext cx="10972800" cy="676656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24128" y="2084831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439"/>
                </a:solidFill>
                <a:latin typeface="Calibri"/>
              </a:rPr>
              <a:t>Система готова к эксплуатации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2395727"/>
            <a:ext cx="10652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4EFE6"/>
                </a:solidFill>
                <a:latin typeface="Calibri"/>
              </a:rPr>
              <a:t>Приложение развёрнуто на Render.com и доступно по публичному URL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944368"/>
            <a:ext cx="420624" cy="676656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3072384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C0C0E"/>
                </a:solidFill>
                <a:latin typeface="Calibri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" y="2944368"/>
            <a:ext cx="10972800" cy="676656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24128" y="2999232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439"/>
                </a:solidFill>
                <a:latin typeface="Calibri"/>
              </a:rPr>
              <a:t>Независимость от разработчика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3310127"/>
            <a:ext cx="10652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4EFE6"/>
                </a:solidFill>
                <a:latin typeface="Calibri"/>
              </a:rPr>
              <a:t>Административная панель управляет 9 разделами сайта без знания кода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858768"/>
            <a:ext cx="420624" cy="676656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3986783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C0C0E"/>
                </a:solidFill>
                <a:latin typeface="Calibri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0392" y="3858768"/>
            <a:ext cx="10972800" cy="676656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24128" y="3913631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439"/>
                </a:solidFill>
                <a:latin typeface="Calibri"/>
              </a:rPr>
              <a:t>Информационная основа решений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4224528"/>
            <a:ext cx="10652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4EFE6"/>
                </a:solidFill>
                <a:latin typeface="Calibri"/>
              </a:rPr>
              <a:t>Аналитический дашборд с графиком и распределениями обеспечивает данные для планирования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773168"/>
            <a:ext cx="420624" cy="676656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4901183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C0C0E"/>
                </a:solidFill>
                <a:latin typeface="Calibri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0392" y="4773168"/>
            <a:ext cx="10972800" cy="676656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24128" y="4828031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439"/>
                </a:solidFill>
                <a:latin typeface="Calibri"/>
              </a:rPr>
              <a:t>Архитектура масштабируема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" y="5138928"/>
            <a:ext cx="10652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4EFE6"/>
                </a:solidFill>
                <a:latin typeface="Calibri"/>
              </a:rPr>
              <a:t>Решение адаптируемо для других компаний сферы услуг с минимальными доработками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687568"/>
            <a:ext cx="420624" cy="676656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5760" y="5815583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C0C0E"/>
                </a:solidFill>
                <a:latin typeface="Calibri"/>
              </a:rPr>
              <a:t>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" y="5687568"/>
            <a:ext cx="10972800" cy="676656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24128" y="5742431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439"/>
                </a:solidFill>
                <a:latin typeface="Calibri"/>
              </a:rPr>
              <a:t>Требования выполнены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" y="6053328"/>
            <a:ext cx="10652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4EFE6"/>
                </a:solidFill>
                <a:latin typeface="Calibri"/>
              </a:rPr>
              <a:t>Все функциональные и нефункциональные требования подтверждены тестированием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11887200" cy="64008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6793992"/>
            <a:ext cx="11887200" cy="64008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515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4EFE6"/>
                </a:solidFill>
                <a:latin typeface="Calibri"/>
              </a:rPr>
              <a:t>Доклад окончен.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E8F439"/>
                </a:solidFill>
                <a:latin typeface="Calibri"/>
              </a:rPr>
              <a:t>Спасибо за внимание!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977639"/>
            <a:ext cx="9601200" cy="36576"/>
          </a:xfrm>
          <a:prstGeom prst="rect">
            <a:avLst/>
          </a:prstGeom>
          <a:solidFill>
            <a:srgbClr val="2A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16052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8580"/>
                </a:solidFill>
                <a:latin typeface="Calibri"/>
              </a:rPr>
              <a:t>Северо-Кавказская государственная академия  ·  Черкесск,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9692640" y="3931920"/>
            <a:ext cx="2103120" cy="210312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692640" y="3931920"/>
            <a:ext cx="2103120" cy="54864"/>
          </a:xfrm>
          <a:prstGeom prst="rect">
            <a:avLst/>
          </a:prstGeom>
          <a:solidFill>
            <a:srgbClr val="E8F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92640" y="406908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E8F439"/>
                </a:solidFill>
                <a:latin typeface="Calibri"/>
              </a:rPr>
              <a:t>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539496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580"/>
                </a:solidFill>
                <a:latin typeface="Calibri"/>
              </a:rPr>
              <a:t>DFORM Studio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1383</Words>
  <Application>Microsoft Office PowerPoint</Application>
  <PresentationFormat>Широкоэкранный</PresentationFormat>
  <Paragraphs>351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Алим Джатдоев</cp:lastModifiedBy>
  <cp:revision>3</cp:revision>
  <dcterms:created xsi:type="dcterms:W3CDTF">2013-01-27T09:14:16Z</dcterms:created>
  <dcterms:modified xsi:type="dcterms:W3CDTF">2026-05-09T13:40:54Z</dcterms:modified>
  <cp:category/>
</cp:coreProperties>
</file>