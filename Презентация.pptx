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notesMasterIdLst>
    <p:notesMasterId r:id="rId21"/>
  </p:notesMasterIdLst>
  <p:sldIdLst>
    <p:sldId id="308" r:id="rId2"/>
    <p:sldId id="257" r:id="rId3"/>
    <p:sldId id="286" r:id="rId4"/>
    <p:sldId id="261" r:id="rId5"/>
    <p:sldId id="307" r:id="rId6"/>
    <p:sldId id="278" r:id="rId7"/>
    <p:sldId id="306" r:id="rId8"/>
    <p:sldId id="289" r:id="rId9"/>
    <p:sldId id="317" r:id="rId10"/>
    <p:sldId id="316" r:id="rId11"/>
    <p:sldId id="313" r:id="rId12"/>
    <p:sldId id="311" r:id="rId13"/>
    <p:sldId id="315" r:id="rId14"/>
    <p:sldId id="312" r:id="rId15"/>
    <p:sldId id="318" r:id="rId16"/>
    <p:sldId id="314" r:id="rId17"/>
    <p:sldId id="304" r:id="rId18"/>
    <p:sldId id="309" r:id="rId19"/>
    <p:sldId id="275" r:id="rId20"/>
  </p:sldIdLst>
  <p:sldSz cx="9144000" cy="6858000" type="screen4x3"/>
  <p:notesSz cx="6858000" cy="9144000"/>
  <p:custDataLst>
    <p:tags r:id="rId22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941100"/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63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9A3F06D-3C5A-B1CA-EDD5-EBD58166A1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977CAB-C8F3-A4EE-B84A-1B8C7E06D4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F1E7128-5BAD-5F4F-A47D-DF91A7A8E142}" type="datetimeFigureOut">
              <a:rPr lang="ru-RU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BC13CD14-28DC-6DFF-A039-574768A05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808CFDD6-6F7E-7AFB-2EA2-C7E371576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8F7E4E-6322-FE26-E8BC-35169316A2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AB1139-2745-79EA-449B-DBE430D6A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7102F7B-F0DF-A44A-96D9-F46631BA89C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747276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Образ слайда 1">
            <a:extLst>
              <a:ext uri="{FF2B5EF4-FFF2-40B4-BE49-F238E27FC236}">
                <a16:creationId xmlns:a16="http://schemas.microsoft.com/office/drawing/2014/main" id="{54ECBC07-24E3-6DDC-ADA6-BB44D509B0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Заметки 2">
            <a:extLst>
              <a:ext uri="{FF2B5EF4-FFF2-40B4-BE49-F238E27FC236}">
                <a16:creationId xmlns:a16="http://schemas.microsoft.com/office/drawing/2014/main" id="{AE00E21A-3C57-6EFB-84B4-38852E725B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40964" name="Номер слайда 3">
            <a:extLst>
              <a:ext uri="{FF2B5EF4-FFF2-40B4-BE49-F238E27FC236}">
                <a16:creationId xmlns:a16="http://schemas.microsoft.com/office/drawing/2014/main" id="{0FF891F6-6CB4-4E3E-068F-44D12817F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C3BC6A4-1FB6-D544-91E9-1E43D1E9C5AA}" type="slidenum">
              <a:rPr lang="ru-RU" altLang="ru-RU"/>
              <a:pPr/>
              <a:t>3</a:t>
            </a:fld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E169D7-2168-6C42-B8A8-5CD0A7B0B68A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528D-5020-C341-B8B8-3F67F11A1437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69152885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43FBE1-3837-1448-816B-3024841488C0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A632-0C60-0541-9772-2BEB54A534BA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33529429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D30384-13B9-934F-9996-42BB32DAF42D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99BFA-D1AB-AF41-9B48-129C92114E84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6551197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6A359E-1AEA-CF40-B1AC-5251CE95170F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CC0-3F2C-2F4D-97EB-8549D10C2FB0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48516471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62A16D-049C-884B-8EB0-453C3B84C483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61DD-A5A7-FA4E-AEAC-A8F409FEF5F5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808289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A1A4D2-2A07-F44E-9638-44D0BC6B4271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8EC3-EA98-0E4C-B9E1-83CB7752EFB2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35480031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D37430-1F80-DF42-B7BD-73EE26C7ABDB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D13F-1119-7A48-9840-8F796CBFF3FA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96095843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74BA05-C121-2E42-8C11-731349C9923A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0261-8526-B344-9C31-985897BA9AFC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26109460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EE04E2-395C-034E-B8D6-AE6AE6980C1D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B33A-5C03-6144-B910-89387B40BD66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32768180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6CA599-34D0-DF4C-8D0E-17B6BE551C30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F3875-8C83-2C4E-B524-681A8F90BCCF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0347838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A041B8-12D7-4542-8036-40E45F82483C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8D9D-86A5-EB43-B672-18DE928B0441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02558227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B4F8D1D-90D3-6D4D-B53F-0F222DB8271C}" type="datetimeFigureOut">
              <a:rPr lang="ru-RU" smtClean="0"/>
              <a:pPr>
                <a:defRPr/>
              </a:pPr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D8C8E-D778-A84E-B489-08157F9DD3CA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8007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ransition spd="slow">
    <p:pull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077"/>
            <a:ext cx="9144000" cy="110324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54" y="284312"/>
            <a:ext cx="621972" cy="621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35EA65-805A-330A-8F32-A7D7CBD73E06}"/>
              </a:ext>
            </a:extLst>
          </p:cNvPr>
          <p:cNvSpPr txBox="1"/>
          <p:nvPr/>
        </p:nvSpPr>
        <p:spPr>
          <a:xfrm>
            <a:off x="1677247" y="1159539"/>
            <a:ext cx="578950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ru-RU" sz="1200" b="1" dirty="0">
                <a:solidFill>
                  <a:srgbClr val="941100"/>
                </a:solidFill>
                <a:latin typeface="Times New Roman" pitchFamily="18" charset="0"/>
              </a:rPr>
              <a:t>Федеральное государственное бюджетное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ru-RU" sz="1200" b="1" dirty="0">
                <a:solidFill>
                  <a:srgbClr val="941100"/>
                </a:solidFill>
                <a:latin typeface="Times New Roman" pitchFamily="18" charset="0"/>
              </a:rPr>
              <a:t>образовательное учреждение высшего образования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ru-RU" sz="1500" b="1" dirty="0">
                <a:solidFill>
                  <a:srgbClr val="941100"/>
                </a:solidFill>
                <a:latin typeface="Times New Roman" pitchFamily="18" charset="0"/>
              </a:rPr>
              <a:t>«Северо-Кавказская государственная академия»</a:t>
            </a:r>
            <a:endParaRPr lang="ru-RU" sz="1500" b="1" dirty="0">
              <a:ln w="9525">
                <a:solidFill>
                  <a:sysClr val="windowText" lastClr="000000"/>
                </a:solidFill>
                <a:prstDash val="solid"/>
              </a:ln>
              <a:solidFill>
                <a:srgbClr val="9411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4F003B-D6D5-1801-CB8A-266E06FF2402}"/>
              </a:ext>
            </a:extLst>
          </p:cNvPr>
          <p:cNvSpPr txBox="1"/>
          <p:nvPr/>
        </p:nvSpPr>
        <p:spPr>
          <a:xfrm>
            <a:off x="2264018" y="1952177"/>
            <a:ext cx="461596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050" b="1" dirty="0">
                <a:solidFill>
                  <a:srgbClr val="941100"/>
                </a:solidFill>
                <a:latin typeface="Times New Roman" pitchFamily="18" charset="0"/>
                <a:cs typeface="Times New Roman" pitchFamily="18" charset="0"/>
              </a:rPr>
              <a:t>ИНСТИТУТ ЦИФРОВЫХ ТЕХНОЛОГИЙ</a:t>
            </a:r>
            <a:endParaRPr lang="ru-RU" sz="1050" b="1" dirty="0">
              <a:solidFill>
                <a:srgbClr val="94110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2312347"/>
            <a:ext cx="914400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 typeface="Arial" charset="0"/>
              <a:buNone/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 typeface="Arial" charset="0"/>
              <a:buNone/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 Разработка мобильного приложения для управления задачами и проектами с использованием React Native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 typeface="Arial" charset="0"/>
              <a:buNone/>
              <a:defRPr/>
            </a:pPr>
            <a:endParaRPr lang="ru-RU" altLang="ru-RU" sz="9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одзаголовок 5">
            <a:extLst>
              <a:ext uri="{FF2B5EF4-FFF2-40B4-BE49-F238E27FC236}">
                <a16:creationId xmlns:a16="http://schemas.microsoft.com/office/drawing/2014/main" id="{84F72B9E-AF06-C0B1-4F49-B30D5D14F89D}"/>
              </a:ext>
            </a:extLst>
          </p:cNvPr>
          <p:cNvSpPr txBox="1">
            <a:spLocks/>
          </p:cNvSpPr>
          <p:nvPr/>
        </p:nvSpPr>
        <p:spPr bwMode="auto">
          <a:xfrm>
            <a:off x="179499" y="4229104"/>
            <a:ext cx="2639601" cy="1574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alt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</a:t>
            </a:r>
          </a:p>
          <a:p>
            <a:pPr>
              <a:spcBef>
                <a:spcPts val="0"/>
              </a:spcBef>
            </a:pPr>
            <a:r>
              <a:rPr lang="ru-RU" alt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обучающийся ОФО </a:t>
            </a:r>
          </a:p>
          <a:p>
            <a:pPr>
              <a:spcBef>
                <a:spcPts val="0"/>
              </a:spcBef>
            </a:pPr>
            <a:r>
              <a:rPr lang="ru-RU" alt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Направления подготовки </a:t>
            </a:r>
          </a:p>
          <a:p>
            <a:pPr>
              <a:spcBef>
                <a:spcPts val="0"/>
              </a:spcBef>
            </a:pPr>
            <a:r>
              <a:rPr lang="ru-RU" altLang="ru-RU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09.03.03 Прикладная информатика</a:t>
            </a:r>
          </a:p>
          <a:p>
            <a:pPr>
              <a:spcBef>
                <a:spcPts val="0"/>
              </a:spcBef>
            </a:pPr>
            <a:r>
              <a:rPr lang="ru-RU" alt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ФИО (полностью)</a:t>
            </a:r>
          </a:p>
          <a:p>
            <a:pPr>
              <a:spcBef>
                <a:spcPts val="0"/>
              </a:spcBef>
            </a:pPr>
            <a:r>
              <a:rPr lang="ru-RU" alt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</a:p>
          <a:p>
            <a:pPr>
              <a:spcBef>
                <a:spcPts val="0"/>
              </a:spcBef>
            </a:pPr>
            <a:r>
              <a:rPr lang="ru-RU" alt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</a:t>
            </a:r>
            <a:r>
              <a:rPr lang="ru-RU" alt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степень, </a:t>
            </a:r>
            <a:r>
              <a:rPr lang="ru-RU" alt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уч.звание</a:t>
            </a:r>
            <a:r>
              <a:rPr lang="ru-RU" alt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ФИО (полностью)</a:t>
            </a:r>
            <a:endParaRPr lang="ru-RU" altLang="ru-RU" sz="1200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AA9B3-D708-F6FA-18CD-2CFE477A5891}"/>
              </a:ext>
            </a:extLst>
          </p:cNvPr>
          <p:cNvSpPr txBox="1"/>
          <p:nvPr/>
        </p:nvSpPr>
        <p:spPr>
          <a:xfrm>
            <a:off x="2857500" y="6247475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b="1" dirty="0">
                <a:solidFill>
                  <a:srgbClr val="941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Черкесск, 2026</a:t>
            </a:r>
            <a:endParaRPr lang="ru-RU" dirty="0">
              <a:solidFill>
                <a:srgbClr val="9411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526669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85B84BF-957C-11D7-114C-54974413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400" y="261938"/>
            <a:ext cx="4935538" cy="5746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5400" b="1" dirty="0">
                <a:solidFill>
                  <a:srgbClr val="002060"/>
                </a:solidFill>
                <a:latin typeface="+mn-lt"/>
              </a:rPr>
              <a:t>Актуальность: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380F63C-FE3A-5861-B71B-8F0CEE2D03C8}"/>
              </a:ext>
            </a:extLst>
          </p:cNvPr>
          <p:cNvSpPr/>
          <p:nvPr/>
        </p:nvSpPr>
        <p:spPr>
          <a:xfrm>
            <a:off x="1512277" y="1146175"/>
            <a:ext cx="7109209" cy="4041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7675" lvl="0" indent="-447675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	Рост использования мобильных устройств</a:t>
            </a:r>
          </a:p>
          <a:p>
            <a:pPr marL="447675" lvl="0" indent="-447675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	Необходимость управления задачами и проектами</a:t>
            </a:r>
          </a:p>
          <a:p>
            <a:pPr marL="447675" lvl="0" indent="-447675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	Потребность в автономных решениях без облачных сервисов</a:t>
            </a:r>
          </a:p>
          <a:p>
            <a:pPr marL="447675" lvl="0" indent="-447675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	Развитие кроссплатформенных технологий (React Native)</a:t>
            </a:r>
          </a:p>
          <a:p>
            <a:pPr marL="447675" lvl="0" indent="-447675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	Возможность создания эффективных мобильных информационных систем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5824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289" y="6627221"/>
            <a:ext cx="7985759" cy="230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F6832FE2-F1F4-7DD5-726F-918D531EEC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8092" y="104487"/>
            <a:ext cx="6727962" cy="719137"/>
          </a:xfrm>
        </p:spPr>
        <p:txBody>
          <a:bodyPr>
            <a:normAutofit fontScale="90000"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>
              <a:defRPr/>
            </a:pPr>
            <a:r>
              <a:rPr lang="ru-RU" sz="4800" b="1" dirty="0">
                <a:solidFill>
                  <a:srgbClr val="002060"/>
                </a:solidFill>
                <a:latin typeface="+mn-lt"/>
              </a:rPr>
              <a:t>Объект</a:t>
            </a:r>
            <a:r>
              <a:rPr lang="ru-RU" sz="5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ru-RU" sz="4800" b="1" dirty="0">
                <a:solidFill>
                  <a:srgbClr val="002060"/>
                </a:solidFill>
                <a:latin typeface="+mn-lt"/>
              </a:rPr>
              <a:t>исследования</a:t>
            </a:r>
            <a:r>
              <a:rPr lang="ru-RU" sz="5400" b="1" dirty="0">
                <a:solidFill>
                  <a:srgbClr val="002060"/>
                </a:solidFill>
                <a:latin typeface="+mn-lt"/>
              </a:rPr>
              <a:t>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BA36A2F-0670-4A94-AB07-45E6238417CF}"/>
              </a:ext>
            </a:extLst>
          </p:cNvPr>
          <p:cNvSpPr/>
          <p:nvPr/>
        </p:nvSpPr>
        <p:spPr>
          <a:xfrm>
            <a:off x="1058092" y="815683"/>
            <a:ext cx="80859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/>
              <a:t>Процесс управления задачами и проектами с использованием мобильных информационных технологий</a:t>
            </a:r>
            <a:endParaRPr lang="ru-RU" sz="1600" dirty="0">
              <a:solidFill>
                <a:srgbClr val="941100"/>
              </a:solidFill>
            </a:endParaRPr>
          </a:p>
        </p:txBody>
      </p:sp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AEBA0786-E93E-C01E-1136-439954B84E5D}"/>
              </a:ext>
            </a:extLst>
          </p:cNvPr>
          <p:cNvSpPr txBox="1">
            <a:spLocks/>
          </p:cNvSpPr>
          <p:nvPr/>
        </p:nvSpPr>
        <p:spPr bwMode="auto">
          <a:xfrm>
            <a:off x="1058093" y="2073239"/>
            <a:ext cx="7320346" cy="859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>
              <a:defRPr/>
            </a:pPr>
            <a:r>
              <a:rPr lang="ru-RU" b="1" dirty="0">
                <a:solidFill>
                  <a:srgbClr val="002060"/>
                </a:solidFill>
                <a:latin typeface="+mn-lt"/>
              </a:rPr>
              <a:t>Предмет</a:t>
            </a:r>
            <a:r>
              <a:rPr lang="ru-RU" sz="4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исследования</a:t>
            </a:r>
            <a:r>
              <a:rPr lang="ru-RU" sz="4800" b="1" dirty="0">
                <a:solidFill>
                  <a:srgbClr val="002060"/>
                </a:solidFill>
                <a:latin typeface="+mn-lt"/>
              </a:rPr>
              <a:t>: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8B384F-2021-D3DB-DE95-9FDCB642A31E}"/>
              </a:ext>
            </a:extLst>
          </p:cNvPr>
          <p:cNvSpPr/>
          <p:nvPr/>
        </p:nvSpPr>
        <p:spPr>
          <a:xfrm>
            <a:off x="1058092" y="2845534"/>
            <a:ext cx="80859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/>
              <a:t>Методы и средства разработки мобильного приложения управления задачами</a:t>
            </a:r>
            <a:endParaRPr lang="ru-RU" sz="2400" b="1" dirty="0">
              <a:solidFill>
                <a:srgbClr val="941100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5CD867C3-3A85-FC7E-1BEE-40D6D4735ECC}"/>
              </a:ext>
            </a:extLst>
          </p:cNvPr>
          <p:cNvSpPr txBox="1">
            <a:spLocks/>
          </p:cNvSpPr>
          <p:nvPr/>
        </p:nvSpPr>
        <p:spPr>
          <a:xfrm>
            <a:off x="1127144" y="4163764"/>
            <a:ext cx="2649267" cy="8445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>
              <a:defRPr/>
            </a:pPr>
            <a:r>
              <a:rPr lang="ru-RU" sz="4800" b="1" dirty="0">
                <a:solidFill>
                  <a:srgbClr val="002060"/>
                </a:solidFill>
                <a:latin typeface="+mn-lt"/>
              </a:rPr>
              <a:t>Цель</a:t>
            </a:r>
            <a:r>
              <a:rPr lang="ru-RU" sz="5400" b="1" dirty="0">
                <a:solidFill>
                  <a:srgbClr val="002060"/>
                </a:solidFill>
                <a:latin typeface="+mn-lt"/>
              </a:rPr>
              <a:t>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D0F7943-CFBD-28EB-FFE9-766A3EF56F3D}"/>
              </a:ext>
            </a:extLst>
          </p:cNvPr>
          <p:cNvSpPr/>
          <p:nvPr/>
        </p:nvSpPr>
        <p:spPr>
          <a:xfrm>
            <a:off x="1058091" y="4865793"/>
            <a:ext cx="8085907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defRPr/>
            </a:pPr>
            <a:r>
              <a:rPr lang="ru-RU" sz="2400" dirty="0"/>
              <a:t>Разработка мобильного приложения для управления задачами и проектами на базе React Native с использованием локальной базы данных SQLite</a:t>
            </a:r>
            <a:endParaRPr lang="ru-RU" sz="2400" b="1" dirty="0">
              <a:solidFill>
                <a:srgbClr val="941100"/>
              </a:solidFill>
              <a:latin typeface="+mn-lt"/>
              <a:ea typeface="+mj-ea"/>
              <a:cs typeface="+mj-cs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148" y="0"/>
            <a:ext cx="1158240" cy="685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6" y="104487"/>
            <a:ext cx="779846" cy="86186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92" y="6627223"/>
            <a:ext cx="8085908" cy="2307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</p:spTree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2746457" y="181857"/>
            <a:ext cx="2613025" cy="8223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>
              <a:defRPr/>
            </a:pPr>
            <a:r>
              <a:rPr lang="ru-RU" sz="5400" b="1" dirty="0">
                <a:solidFill>
                  <a:srgbClr val="002060"/>
                </a:solidFill>
                <a:latin typeface="+mn-lt"/>
              </a:rPr>
              <a:t>Задачи: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6FC4F5C-E21D-48BB-9685-B442082DB4F9}"/>
              </a:ext>
            </a:extLst>
          </p:cNvPr>
          <p:cNvSpPr/>
          <p:nvPr/>
        </p:nvSpPr>
        <p:spPr>
          <a:xfrm>
            <a:off x="1584960" y="1014408"/>
            <a:ext cx="7559040" cy="550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6938" indent="-896938">
              <a:lnSpc>
                <a:spcPct val="90000"/>
              </a:lnSpc>
              <a:defRPr/>
            </a:pPr>
            <a:r>
              <a:rPr lang="ru-RU" sz="2300" dirty="0">
                <a:latin typeface="+mn-lt"/>
                <a:ea typeface="+mj-ea"/>
                <a:cs typeface="+mj-cs"/>
              </a:rPr>
              <a:t>•	Провести анализ предметной области управления задачами</a:t>
            </a:r>
          </a:p>
          <a:p>
            <a:pPr marL="896938" indent="-896938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ru-RU" sz="23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r>
              <a:rPr lang="ru-RU" sz="2300" dirty="0">
                <a:latin typeface="+mn-lt"/>
                <a:ea typeface="+mj-ea"/>
                <a:cs typeface="+mj-cs"/>
              </a:rPr>
              <a:t>•	Исследовать технологии мобильной разработки</a:t>
            </a:r>
          </a:p>
          <a:p>
            <a:pPr marL="896938" indent="-896938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ru-RU" sz="23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r>
              <a:rPr lang="ru-RU" sz="2300" dirty="0">
                <a:latin typeface="+mn-lt"/>
                <a:ea typeface="+mj-ea"/>
                <a:cs typeface="+mj-cs"/>
              </a:rPr>
              <a:t>•	Обосновать выбор React Native и SQLite</a:t>
            </a:r>
          </a:p>
          <a:p>
            <a:pPr marL="896938" indent="-896938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ru-RU" sz="23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r>
              <a:rPr lang="ru-RU" sz="2300" dirty="0">
                <a:latin typeface="+mn-lt"/>
                <a:ea typeface="+mj-ea"/>
                <a:cs typeface="+mj-cs"/>
              </a:rPr>
              <a:t>•	Спроектировать архитектуру мобильного приложения</a:t>
            </a:r>
          </a:p>
          <a:p>
            <a:pPr marL="896938" indent="-896938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ru-RU" sz="23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r>
              <a:rPr lang="ru-RU" sz="2300" dirty="0">
                <a:latin typeface="+mn-lt"/>
                <a:ea typeface="+mj-ea"/>
                <a:cs typeface="+mj-cs"/>
              </a:rPr>
              <a:t>•	Разработать функциональные модули системы</a:t>
            </a:r>
          </a:p>
          <a:p>
            <a:pPr marL="896938" indent="-896938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ru-RU" sz="23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r>
              <a:rPr lang="ru-RU" sz="2300" dirty="0">
                <a:latin typeface="+mn-lt"/>
                <a:ea typeface="+mj-ea"/>
                <a:cs typeface="+mj-cs"/>
              </a:rPr>
              <a:t>•	Реализовать информационную модель базы данных</a:t>
            </a:r>
          </a:p>
          <a:p>
            <a:pPr marL="896938" indent="-896938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ru-RU" sz="23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r>
              <a:rPr lang="ru-RU" sz="2300" dirty="0">
                <a:latin typeface="+mn-lt"/>
                <a:ea typeface="+mj-ea"/>
                <a:cs typeface="+mj-cs"/>
              </a:rPr>
              <a:t>•	Провести апробацию и оценку эффективности приложения</a:t>
            </a:r>
          </a:p>
        </p:txBody>
      </p:sp>
    </p:spTree>
    <p:custDataLst>
      <p:tags r:id="rId1"/>
    </p:custData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sp>
        <p:nvSpPr>
          <p:cNvPr id="17" name="Заголовок 4">
            <a:extLst>
              <a:ext uri="{FF2B5EF4-FFF2-40B4-BE49-F238E27FC236}">
                <a16:creationId xmlns:a16="http://schemas.microsoft.com/office/drawing/2014/main" id="{F517978F-B49B-49CD-AC32-5E1BFE6886A7}"/>
              </a:ext>
            </a:extLst>
          </p:cNvPr>
          <p:cNvSpPr txBox="1">
            <a:spLocks/>
          </p:cNvSpPr>
          <p:nvPr/>
        </p:nvSpPr>
        <p:spPr>
          <a:xfrm>
            <a:off x="1151853" y="181857"/>
            <a:ext cx="7992147" cy="8223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5400" b="1" dirty="0">
                <a:solidFill>
                  <a:srgbClr val="002060"/>
                </a:solidFill>
                <a:latin typeface="+mn-lt"/>
              </a:rPr>
              <a:t>Стек технологий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85021E1-AB4A-4D17-97C8-CF97854B5A4D}"/>
              </a:ext>
            </a:extLst>
          </p:cNvPr>
          <p:cNvSpPr/>
          <p:nvPr/>
        </p:nvSpPr>
        <p:spPr>
          <a:xfrm>
            <a:off x="1584961" y="1146175"/>
            <a:ext cx="755903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b="1" dirty="0">
                <a:latin typeface="+mn-lt"/>
                <a:ea typeface="+mj-ea"/>
                <a:cs typeface="+mj-cs"/>
              </a:rPr>
              <a:t>Frontend:</a:t>
            </a:r>
          </a:p>
          <a:p>
            <a:pPr>
              <a:lnSpc>
                <a:spcPct val="90000"/>
              </a:lnSpc>
              <a:defRPr/>
            </a:pPr>
            <a:r>
              <a:rPr lang="en-US" sz="2400" b="1" dirty="0">
                <a:latin typeface="+mn-lt"/>
                <a:ea typeface="+mj-ea"/>
                <a:cs typeface="+mj-cs"/>
              </a:rPr>
              <a:t>•	React Native</a:t>
            </a:r>
          </a:p>
          <a:p>
            <a:pPr>
              <a:lnSpc>
                <a:spcPct val="90000"/>
              </a:lnSpc>
              <a:defRPr/>
            </a:pPr>
            <a:r>
              <a:rPr lang="en-US" sz="2400" b="1" dirty="0">
                <a:latin typeface="+mn-lt"/>
                <a:ea typeface="+mj-ea"/>
                <a:cs typeface="+mj-cs"/>
              </a:rPr>
              <a:t>•	TypeScript</a:t>
            </a:r>
            <a:endParaRPr lang="ru-RU" sz="2400" b="1" dirty="0">
              <a:latin typeface="+mn-lt"/>
              <a:ea typeface="+mj-ea"/>
              <a:cs typeface="+mj-cs"/>
            </a:endParaRPr>
          </a:p>
          <a:p>
            <a:pPr>
              <a:lnSpc>
                <a:spcPct val="90000"/>
              </a:lnSpc>
              <a:defRPr/>
            </a:pPr>
            <a:endParaRPr lang="en-US" sz="2400" b="1" dirty="0">
              <a:latin typeface="+mn-lt"/>
              <a:ea typeface="+mj-ea"/>
              <a:cs typeface="+mj-cs"/>
            </a:endParaRP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Хранение данных:</a:t>
            </a: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•	</a:t>
            </a:r>
            <a:r>
              <a:rPr lang="en-US" sz="2400" b="1" dirty="0">
                <a:latin typeface="+mn-lt"/>
                <a:ea typeface="+mj-ea"/>
                <a:cs typeface="+mj-cs"/>
              </a:rPr>
              <a:t>SQLite</a:t>
            </a:r>
            <a:endParaRPr lang="ru-RU" sz="2400" b="1" dirty="0">
              <a:latin typeface="+mn-lt"/>
              <a:ea typeface="+mj-ea"/>
              <a:cs typeface="+mj-cs"/>
            </a:endParaRPr>
          </a:p>
          <a:p>
            <a:pPr>
              <a:lnSpc>
                <a:spcPct val="90000"/>
              </a:lnSpc>
              <a:defRPr/>
            </a:pPr>
            <a:endParaRPr lang="en-US" sz="2400" b="1" dirty="0">
              <a:latin typeface="+mn-lt"/>
              <a:ea typeface="+mj-ea"/>
              <a:cs typeface="+mj-cs"/>
            </a:endParaRP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Архитектура:</a:t>
            </a: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•	</a:t>
            </a:r>
            <a:r>
              <a:rPr lang="en-US" sz="2400" b="1" dirty="0">
                <a:latin typeface="+mn-lt"/>
                <a:ea typeface="+mj-ea"/>
                <a:cs typeface="+mj-cs"/>
              </a:rPr>
              <a:t>Clean Architecture</a:t>
            </a:r>
          </a:p>
          <a:p>
            <a:pPr>
              <a:lnSpc>
                <a:spcPct val="90000"/>
              </a:lnSpc>
              <a:defRPr/>
            </a:pPr>
            <a:r>
              <a:rPr lang="en-US" sz="2400" b="1" dirty="0">
                <a:latin typeface="+mn-lt"/>
                <a:ea typeface="+mj-ea"/>
                <a:cs typeface="+mj-cs"/>
              </a:rPr>
              <a:t>•	</a:t>
            </a:r>
            <a:r>
              <a:rPr lang="ru-RU" sz="2400" b="1" dirty="0">
                <a:latin typeface="+mn-lt"/>
                <a:ea typeface="+mj-ea"/>
                <a:cs typeface="+mj-cs"/>
              </a:rPr>
              <a:t>Слоистая архитектура</a:t>
            </a:r>
          </a:p>
          <a:p>
            <a:pPr>
              <a:lnSpc>
                <a:spcPct val="90000"/>
              </a:lnSpc>
              <a:defRPr/>
            </a:pPr>
            <a:endParaRPr lang="ru-RU" sz="2400" b="1" dirty="0">
              <a:latin typeface="+mn-lt"/>
              <a:ea typeface="+mj-ea"/>
              <a:cs typeface="+mj-cs"/>
            </a:endParaRP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Дополнительные инструменты:</a:t>
            </a: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•	</a:t>
            </a:r>
            <a:r>
              <a:rPr lang="en-US" sz="2400" b="1" dirty="0">
                <a:latin typeface="+mn-lt"/>
                <a:ea typeface="+mj-ea"/>
                <a:cs typeface="+mj-cs"/>
              </a:rPr>
              <a:t>React Hooks</a:t>
            </a:r>
          </a:p>
          <a:p>
            <a:pPr>
              <a:lnSpc>
                <a:spcPct val="90000"/>
              </a:lnSpc>
              <a:defRPr/>
            </a:pPr>
            <a:r>
              <a:rPr lang="en-US" sz="2400" b="1" dirty="0">
                <a:latin typeface="+mn-lt"/>
                <a:ea typeface="+mj-ea"/>
                <a:cs typeface="+mj-cs"/>
              </a:rPr>
              <a:t>•	SQL-</a:t>
            </a:r>
            <a:r>
              <a:rPr lang="ru-RU" sz="2400" b="1" dirty="0">
                <a:latin typeface="+mn-lt"/>
                <a:ea typeface="+mj-ea"/>
                <a:cs typeface="+mj-cs"/>
              </a:rPr>
              <a:t>запросы</a:t>
            </a: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•	Механизм миграций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758361173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A50EE1D-1858-FD82-EA1A-F21A47F0D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874663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1137230" y="-15442"/>
            <a:ext cx="8006770" cy="8223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5400" b="1" dirty="0">
                <a:solidFill>
                  <a:srgbClr val="002060"/>
                </a:solidFill>
                <a:latin typeface="+mn-lt"/>
              </a:rPr>
              <a:t>Бизнес-процессы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444D499-74F3-462D-9DC8-F606DC60976E}"/>
              </a:ext>
            </a:extLst>
          </p:cNvPr>
          <p:cNvSpPr/>
          <p:nvPr/>
        </p:nvSpPr>
        <p:spPr>
          <a:xfrm>
            <a:off x="1497105" y="1146175"/>
            <a:ext cx="7646895" cy="4413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1.	Создание и управление проектами</a:t>
            </a:r>
          </a:p>
          <a:p>
            <a:pPr>
              <a:lnSpc>
                <a:spcPct val="90000"/>
              </a:lnSpc>
              <a:defRPr/>
            </a:pPr>
            <a:endParaRPr lang="ru-RU" sz="2400" b="1" dirty="0">
              <a:latin typeface="+mn-lt"/>
              <a:ea typeface="+mj-ea"/>
              <a:cs typeface="+mj-cs"/>
            </a:endParaRP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2.	Создание и редактирование задач</a:t>
            </a:r>
          </a:p>
          <a:p>
            <a:pPr>
              <a:lnSpc>
                <a:spcPct val="90000"/>
              </a:lnSpc>
              <a:defRPr/>
            </a:pPr>
            <a:endParaRPr lang="ru-RU" sz="2400" b="1" dirty="0">
              <a:latin typeface="+mn-lt"/>
              <a:ea typeface="+mj-ea"/>
              <a:cs typeface="+mj-cs"/>
            </a:endParaRP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3.	Назначение приоритетов и сроков выполнения</a:t>
            </a:r>
          </a:p>
          <a:p>
            <a:pPr>
              <a:lnSpc>
                <a:spcPct val="90000"/>
              </a:lnSpc>
              <a:defRPr/>
            </a:pPr>
            <a:endParaRPr lang="ru-RU" sz="2400" b="1" dirty="0">
              <a:latin typeface="+mn-lt"/>
              <a:ea typeface="+mj-ea"/>
              <a:cs typeface="+mj-cs"/>
            </a:endParaRP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4.	Классификация задач с помощью тегов</a:t>
            </a:r>
          </a:p>
          <a:p>
            <a:pPr>
              <a:lnSpc>
                <a:spcPct val="90000"/>
              </a:lnSpc>
              <a:defRPr/>
            </a:pPr>
            <a:endParaRPr lang="ru-RU" sz="2400" b="1" dirty="0">
              <a:latin typeface="+mn-lt"/>
              <a:ea typeface="+mj-ea"/>
              <a:cs typeface="+mj-cs"/>
            </a:endParaRP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5.	Добавление комментариев</a:t>
            </a:r>
          </a:p>
          <a:p>
            <a:pPr>
              <a:lnSpc>
                <a:spcPct val="90000"/>
              </a:lnSpc>
              <a:defRPr/>
            </a:pPr>
            <a:endParaRPr lang="ru-RU" sz="2400" b="1" dirty="0">
              <a:latin typeface="+mn-lt"/>
              <a:ea typeface="+mj-ea"/>
              <a:cs typeface="+mj-cs"/>
            </a:endParaRP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6.	Учёт времени выполнения задач</a:t>
            </a:r>
          </a:p>
          <a:p>
            <a:pPr>
              <a:lnSpc>
                <a:spcPct val="90000"/>
              </a:lnSpc>
              <a:defRPr/>
            </a:pPr>
            <a:endParaRPr lang="ru-RU" sz="2400" b="1" dirty="0">
              <a:latin typeface="+mn-lt"/>
              <a:ea typeface="+mj-ea"/>
              <a:cs typeface="+mj-cs"/>
            </a:endParaRPr>
          </a:p>
          <a:p>
            <a:pPr>
              <a:lnSpc>
                <a:spcPct val="90000"/>
              </a:lnSpc>
              <a:defRPr/>
            </a:pPr>
            <a:r>
              <a:rPr lang="ru-RU" sz="2400" b="1" dirty="0">
                <a:latin typeface="+mn-lt"/>
                <a:ea typeface="+mj-ea"/>
                <a:cs typeface="+mj-cs"/>
              </a:rPr>
              <a:t>7.	Аналитика выполнения задач и проектов</a:t>
            </a:r>
          </a:p>
        </p:txBody>
      </p:sp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1137230" y="84281"/>
            <a:ext cx="8006770" cy="8223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5400" b="1" dirty="0">
                <a:solidFill>
                  <a:srgbClr val="002060"/>
                </a:solidFill>
                <a:latin typeface="+mn-lt"/>
              </a:rPr>
              <a:t>Схема данных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DD10327-099D-4CC7-9989-440062EAB8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1" y="1001057"/>
            <a:ext cx="6857426" cy="5243914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1137230" y="192359"/>
            <a:ext cx="8006770" cy="50995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3200" b="1" dirty="0">
                <a:solidFill>
                  <a:srgbClr val="002060"/>
                </a:solidFill>
                <a:latin typeface="+mn-lt"/>
              </a:rPr>
              <a:t>Экранные формы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EC77C-B8F9-BF03-E0B2-FA53542A9849}"/>
              </a:ext>
            </a:extLst>
          </p:cNvPr>
          <p:cNvSpPr txBox="1"/>
          <p:nvPr/>
        </p:nvSpPr>
        <p:spPr>
          <a:xfrm>
            <a:off x="1137230" y="6053951"/>
            <a:ext cx="8006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941100"/>
                </a:solidFill>
              </a:rPr>
              <a:t>1. Главная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DAD0D6-668A-4489-B9D7-80C74B0F9F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30" y="1005164"/>
            <a:ext cx="2223767" cy="494170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1137230" y="192359"/>
            <a:ext cx="8006770" cy="50995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3200" b="1" dirty="0">
                <a:solidFill>
                  <a:srgbClr val="002060"/>
                </a:solidFill>
                <a:latin typeface="+mn-lt"/>
              </a:rPr>
              <a:t>Экранные формы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EC77C-B8F9-BF03-E0B2-FA53542A9849}"/>
              </a:ext>
            </a:extLst>
          </p:cNvPr>
          <p:cNvSpPr txBox="1"/>
          <p:nvPr/>
        </p:nvSpPr>
        <p:spPr>
          <a:xfrm>
            <a:off x="1137230" y="6053951"/>
            <a:ext cx="8006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941100"/>
                </a:solidFill>
              </a:rPr>
              <a:t>2. Список проектов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50CD90-C557-48D1-8ED3-68ABF91D08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352" y="1004019"/>
            <a:ext cx="2193723" cy="487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96771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1137230" y="192359"/>
            <a:ext cx="8006770" cy="50995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3200" b="1" dirty="0">
                <a:solidFill>
                  <a:srgbClr val="002060"/>
                </a:solidFill>
                <a:latin typeface="+mn-lt"/>
              </a:rPr>
              <a:t>Экранные формы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EC77C-B8F9-BF03-E0B2-FA53542A9849}"/>
              </a:ext>
            </a:extLst>
          </p:cNvPr>
          <p:cNvSpPr txBox="1"/>
          <p:nvPr/>
        </p:nvSpPr>
        <p:spPr>
          <a:xfrm>
            <a:off x="1137230" y="6053951"/>
            <a:ext cx="8006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941100"/>
                </a:solidFill>
              </a:rPr>
              <a:t>3. Новый проект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D504A0-6CB1-4A8E-AF7A-A855D83508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165" y="1004019"/>
            <a:ext cx="2176096" cy="48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18976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1137230" y="192359"/>
            <a:ext cx="8006770" cy="50995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3200" b="1" dirty="0">
                <a:solidFill>
                  <a:srgbClr val="002060"/>
                </a:solidFill>
                <a:latin typeface="+mn-lt"/>
              </a:rPr>
              <a:t>Экранные формы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EC77C-B8F9-BF03-E0B2-FA53542A9849}"/>
              </a:ext>
            </a:extLst>
          </p:cNvPr>
          <p:cNvSpPr txBox="1"/>
          <p:nvPr/>
        </p:nvSpPr>
        <p:spPr>
          <a:xfrm>
            <a:off x="1137230" y="6053951"/>
            <a:ext cx="8006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941100"/>
                </a:solidFill>
              </a:rPr>
              <a:t>4. Информация проекта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3CBDB2-7A0E-488F-81D1-CAD68DAC6C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908" y="1004020"/>
            <a:ext cx="2230725" cy="495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96904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1137230" y="192359"/>
            <a:ext cx="8006770" cy="50995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3200" b="1" dirty="0">
                <a:solidFill>
                  <a:srgbClr val="002060"/>
                </a:solidFill>
                <a:latin typeface="+mn-lt"/>
              </a:rPr>
              <a:t>Экранные формы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EC77C-B8F9-BF03-E0B2-FA53542A9849}"/>
              </a:ext>
            </a:extLst>
          </p:cNvPr>
          <p:cNvSpPr txBox="1"/>
          <p:nvPr/>
        </p:nvSpPr>
        <p:spPr>
          <a:xfrm>
            <a:off x="1137230" y="6053951"/>
            <a:ext cx="8006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941100"/>
                </a:solidFill>
              </a:rPr>
              <a:t>5. Задачи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8B8A6C-092B-409C-B640-816F9B9AE5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461" y="1004020"/>
            <a:ext cx="2235721" cy="496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51478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1137230" y="192359"/>
            <a:ext cx="8006770" cy="50995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3200" b="1" dirty="0">
                <a:solidFill>
                  <a:srgbClr val="002060"/>
                </a:solidFill>
                <a:latin typeface="+mn-lt"/>
              </a:rPr>
              <a:t>Экранные формы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EC77C-B8F9-BF03-E0B2-FA53542A9849}"/>
              </a:ext>
            </a:extLst>
          </p:cNvPr>
          <p:cNvSpPr txBox="1"/>
          <p:nvPr/>
        </p:nvSpPr>
        <p:spPr>
          <a:xfrm>
            <a:off x="1137230" y="6053951"/>
            <a:ext cx="8006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941100"/>
                </a:solidFill>
              </a:rPr>
              <a:t>6. Новая задача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037C9B-8DC9-460E-9907-7129D30F06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209" y="1004019"/>
            <a:ext cx="2184009" cy="485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2320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1137230" y="192359"/>
            <a:ext cx="8006770" cy="50995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3200" b="1" dirty="0">
                <a:solidFill>
                  <a:srgbClr val="002060"/>
                </a:solidFill>
                <a:latin typeface="+mn-lt"/>
              </a:rPr>
              <a:t>Экранные формы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EC77C-B8F9-BF03-E0B2-FA53542A9849}"/>
              </a:ext>
            </a:extLst>
          </p:cNvPr>
          <p:cNvSpPr txBox="1"/>
          <p:nvPr/>
        </p:nvSpPr>
        <p:spPr>
          <a:xfrm>
            <a:off x="1137230" y="6053951"/>
            <a:ext cx="8006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941100"/>
                </a:solidFill>
              </a:rPr>
              <a:t>7. Информация задачи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2E1E2C-8819-41CA-960C-7202E168B5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104" y="1004019"/>
            <a:ext cx="2214898" cy="492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59340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1137230" y="192359"/>
            <a:ext cx="8006770" cy="50995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3200" b="1" dirty="0">
                <a:solidFill>
                  <a:srgbClr val="002060"/>
                </a:solidFill>
                <a:latin typeface="+mn-lt"/>
              </a:rPr>
              <a:t>Экранные формы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EC77C-B8F9-BF03-E0B2-FA53542A9849}"/>
              </a:ext>
            </a:extLst>
          </p:cNvPr>
          <p:cNvSpPr txBox="1"/>
          <p:nvPr/>
        </p:nvSpPr>
        <p:spPr>
          <a:xfrm>
            <a:off x="1137230" y="6053951"/>
            <a:ext cx="8006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941100"/>
                </a:solidFill>
              </a:rPr>
              <a:t>8. Аналитика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A06E949-6041-4403-AEA5-F0E7F41DF6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01" y="1004019"/>
            <a:ext cx="2220650" cy="493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20263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B7BB9F0C-2123-0F3E-043C-E3F1C584C98E}"/>
              </a:ext>
            </a:extLst>
          </p:cNvPr>
          <p:cNvSpPr txBox="1">
            <a:spLocks/>
          </p:cNvSpPr>
          <p:nvPr/>
        </p:nvSpPr>
        <p:spPr>
          <a:xfrm>
            <a:off x="1137230" y="192359"/>
            <a:ext cx="8006770" cy="50995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>
              <a:defRPr/>
            </a:pPr>
            <a:r>
              <a:rPr lang="ru-RU" sz="3200" b="1" dirty="0">
                <a:solidFill>
                  <a:srgbClr val="002060"/>
                </a:solidFill>
                <a:latin typeface="+mn-lt"/>
              </a:rPr>
              <a:t>Экранные формы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EC77C-B8F9-BF03-E0B2-FA53542A9849}"/>
              </a:ext>
            </a:extLst>
          </p:cNvPr>
          <p:cNvSpPr txBox="1"/>
          <p:nvPr/>
        </p:nvSpPr>
        <p:spPr>
          <a:xfrm>
            <a:off x="1137230" y="6053951"/>
            <a:ext cx="8006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941100"/>
                </a:solidFill>
              </a:rPr>
              <a:t>9. Настройки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0" y="6637447"/>
            <a:ext cx="8006770" cy="230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5F857A-0289-4FE8-983F-8541ABC3FA61}"/>
              </a:ext>
            </a:extLst>
          </p:cNvPr>
          <p:cNvSpPr txBox="1"/>
          <p:nvPr/>
        </p:nvSpPr>
        <p:spPr>
          <a:xfrm>
            <a:off x="1062447" y="6627221"/>
            <a:ext cx="755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Тема выступления, презентации или Фамилия Имя и Отчество докладчика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C71457-C0D0-4848-BA98-7F3740CEC3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254" y="1004019"/>
            <a:ext cx="2182857" cy="485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84817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39C8BA-3B3C-B342-2DAF-45F84A8CA457}"/>
              </a:ext>
            </a:extLst>
          </p:cNvPr>
          <p:cNvSpPr txBox="1"/>
          <p:nvPr/>
        </p:nvSpPr>
        <p:spPr>
          <a:xfrm>
            <a:off x="2167230" y="17817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</a:rPr>
              <a:t>ВЫВОДЫ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E3AD658-A23D-4B57-B8C5-CF4D9414D786}"/>
              </a:ext>
            </a:extLst>
          </p:cNvPr>
          <p:cNvSpPr/>
          <p:nvPr/>
        </p:nvSpPr>
        <p:spPr>
          <a:xfrm>
            <a:off x="1397977" y="1004019"/>
            <a:ext cx="7746023" cy="4413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6938" indent="-896938">
              <a:lnSpc>
                <a:spcPct val="90000"/>
              </a:lnSpc>
              <a:defRPr/>
            </a:pPr>
            <a:r>
              <a:rPr lang="ru-RU" sz="2400" dirty="0">
                <a:latin typeface="+mn-lt"/>
                <a:ea typeface="+mj-ea"/>
                <a:cs typeface="+mj-cs"/>
              </a:rPr>
              <a:t>•	Проведён анализ предметной области</a:t>
            </a:r>
          </a:p>
          <a:p>
            <a:pPr marL="896938" indent="-896938">
              <a:lnSpc>
                <a:spcPct val="90000"/>
              </a:lnSpc>
              <a:defRPr/>
            </a:pPr>
            <a:endParaRPr lang="ru-RU" sz="24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r>
              <a:rPr lang="ru-RU" sz="2400" dirty="0">
                <a:latin typeface="+mn-lt"/>
                <a:ea typeface="+mj-ea"/>
                <a:cs typeface="+mj-cs"/>
              </a:rPr>
              <a:t>•	Спроектирована архитектура мобильного приложения</a:t>
            </a:r>
          </a:p>
          <a:p>
            <a:pPr marL="896938" indent="-896938">
              <a:lnSpc>
                <a:spcPct val="90000"/>
              </a:lnSpc>
              <a:defRPr/>
            </a:pPr>
            <a:endParaRPr lang="ru-RU" sz="24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r>
              <a:rPr lang="ru-RU" sz="2400" dirty="0">
                <a:latin typeface="+mn-lt"/>
                <a:ea typeface="+mj-ea"/>
                <a:cs typeface="+mj-cs"/>
              </a:rPr>
              <a:t>•	Разработана информационная модель данных</a:t>
            </a:r>
          </a:p>
          <a:p>
            <a:pPr marL="896938" indent="-896938">
              <a:lnSpc>
                <a:spcPct val="90000"/>
              </a:lnSpc>
              <a:defRPr/>
            </a:pPr>
            <a:endParaRPr lang="ru-RU" sz="24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r>
              <a:rPr lang="ru-RU" sz="2400" dirty="0">
                <a:latin typeface="+mn-lt"/>
                <a:ea typeface="+mj-ea"/>
                <a:cs typeface="+mj-cs"/>
              </a:rPr>
              <a:t>•	Реализовано мобильное приложение </a:t>
            </a:r>
            <a:r>
              <a:rPr lang="ru-RU" sz="2400" dirty="0" err="1">
                <a:latin typeface="+mn-lt"/>
                <a:ea typeface="+mj-ea"/>
                <a:cs typeface="+mj-cs"/>
              </a:rPr>
              <a:t>TaskManager</a:t>
            </a:r>
            <a:endParaRPr lang="ru-RU" sz="24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endParaRPr lang="ru-RU" sz="24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r>
              <a:rPr lang="ru-RU" sz="2400" dirty="0">
                <a:latin typeface="+mn-lt"/>
                <a:ea typeface="+mj-ea"/>
                <a:cs typeface="+mj-cs"/>
              </a:rPr>
              <a:t>•	Реализованы функции аналитики и учёта времени</a:t>
            </a:r>
          </a:p>
          <a:p>
            <a:pPr marL="896938" indent="-896938">
              <a:lnSpc>
                <a:spcPct val="90000"/>
              </a:lnSpc>
              <a:defRPr/>
            </a:pPr>
            <a:endParaRPr lang="ru-RU" sz="2400" dirty="0">
              <a:latin typeface="+mn-lt"/>
              <a:ea typeface="+mj-ea"/>
              <a:cs typeface="+mj-cs"/>
            </a:endParaRPr>
          </a:p>
          <a:p>
            <a:pPr marL="896938" indent="-896938">
              <a:lnSpc>
                <a:spcPct val="90000"/>
              </a:lnSpc>
              <a:defRPr/>
            </a:pPr>
            <a:r>
              <a:rPr lang="ru-RU" sz="2400" dirty="0">
                <a:latin typeface="+mn-lt"/>
                <a:ea typeface="+mj-ea"/>
                <a:cs typeface="+mj-cs"/>
              </a:rPr>
              <a:t>•	Подтверждена эффективность разработанного решения</a:t>
            </a:r>
          </a:p>
        </p:txBody>
      </p:sp>
    </p:spTree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A42D5CB-F43A-447C-AE6C-3AC029672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035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94DBE0-C420-4E81-90C1-9BF7E2995CCD}"/>
              </a:ext>
            </a:extLst>
          </p:cNvPr>
          <p:cNvSpPr txBox="1"/>
          <p:nvPr/>
        </p:nvSpPr>
        <p:spPr>
          <a:xfrm>
            <a:off x="3830449" y="260852"/>
            <a:ext cx="64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Фамилия Имя Отчество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84A73-7F8C-4215-A6A4-7B1732CBF08D}"/>
              </a:ext>
            </a:extLst>
          </p:cNvPr>
          <p:cNvSpPr txBox="1"/>
          <p:nvPr/>
        </p:nvSpPr>
        <p:spPr>
          <a:xfrm>
            <a:off x="3830449" y="717270"/>
            <a:ext cx="4327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должность и звания докладчика,</a:t>
            </a:r>
          </a:p>
          <a:p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можно даже в две строки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E2CC7-C697-4112-943B-4EF5A1883DDE}"/>
              </a:ext>
            </a:extLst>
          </p:cNvPr>
          <p:cNvSpPr txBox="1"/>
          <p:nvPr/>
        </p:nvSpPr>
        <p:spPr>
          <a:xfrm>
            <a:off x="3830448" y="1266021"/>
            <a:ext cx="4327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+7 (999) 887-76-54</a:t>
            </a:r>
            <a:endParaRPr lang="ru-RU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19B3A-0BD9-4C28-9427-72489BC6F62D}"/>
              </a:ext>
            </a:extLst>
          </p:cNvPr>
          <p:cNvSpPr txBox="1"/>
          <p:nvPr/>
        </p:nvSpPr>
        <p:spPr>
          <a:xfrm>
            <a:off x="3830448" y="1691661"/>
            <a:ext cx="4327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familia.i@mai.ru</a:t>
            </a:r>
            <a:endParaRPr lang="ru-RU" sz="1600" b="1" dirty="0">
              <a:solidFill>
                <a:srgbClr val="941100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38" y="3369263"/>
            <a:ext cx="2060006" cy="210747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693397" y="4461025"/>
            <a:ext cx="35419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941100"/>
                </a:solidFill>
                <a:latin typeface="Times New Roman" pitchFamily="18" charset="0"/>
              </a:rPr>
              <a:t>Северо-Кавказская государственная академия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682782" y="3407337"/>
            <a:ext cx="54752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b="1" dirty="0">
                <a:solidFill>
                  <a:srgbClr val="941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СКГА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93893" y="6136418"/>
            <a:ext cx="1075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990000"/>
                </a:solidFill>
                <a:latin typeface="Times New Roman" pitchFamily="18" charset="0"/>
              </a:rPr>
              <a:t>ncsa.ru</a:t>
            </a:r>
            <a:endParaRPr lang="ru-RU" dirty="0">
              <a:solidFill>
                <a:srgbClr val="99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123646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Box 1">
            <a:extLst>
              <a:ext uri="{FF2B5EF4-FFF2-40B4-BE49-F238E27FC236}">
                <a16:creationId xmlns:a16="http://schemas.microsoft.com/office/drawing/2014/main" id="{461F3AAD-3CA4-D34F-7C5F-8520A51D3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428" y="2588103"/>
            <a:ext cx="8001572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ru-RU" altLang="ru-RU" sz="4400" b="1" dirty="0">
                <a:solidFill>
                  <a:srgbClr val="941100"/>
                </a:solidFill>
              </a:rPr>
              <a:t>Доклад окончен. </a:t>
            </a:r>
            <a:endParaRPr lang="en-US" altLang="ru-RU" sz="4400" b="1" dirty="0">
              <a:solidFill>
                <a:srgbClr val="941100"/>
              </a:solidFill>
            </a:endParaRPr>
          </a:p>
          <a:p>
            <a:pPr algn="ctr"/>
            <a:r>
              <a:rPr lang="ru-RU" altLang="ru-RU" sz="4400" b="1" dirty="0">
                <a:solidFill>
                  <a:srgbClr val="941100"/>
                </a:solidFill>
              </a:rPr>
              <a:t>Спасибо за внимание!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3" y="0"/>
            <a:ext cx="115824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E57366-A1AB-40AF-82C3-ABECDD532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" y="142156"/>
            <a:ext cx="779846" cy="861863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OJECT_FOLDER_UPDATED" val="1"/>
  <p:tag name="ISPRING_UUID" val="{5B6A7A8B-8D23-4A93-88B9-7146E9F44B7A}"/>
  <p:tag name="ISPRING_RESOURCE_FOLDER" val="C:\Users\1\Desktop\Презентация на защиту Краснов Н.А.\"/>
  <p:tag name="ISPRING_PRESENTATION_PATH" val="C:\Users\1\Desktop\Презентация на защиту Краснов Н.А..ppt"/>
  <p:tag name="ISPRING_SCREEN_RECS_UPDATED" val="C:\Users\1\Desktop\Презентация на защиту Краснов Н.А.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QUIZ_PROPERTIES" val="&lt;QuizProperties&gt;&lt;passAction&gt;&lt;action&gt;3&lt;/action&gt;&lt;/passAction&gt;&lt;failAction&gt;&lt;action&gt;3&lt;/action&gt;&lt;/failAction&gt;&lt;viewSlidesPolicy&gt;0&lt;/viewSlidesPolicy&gt;&lt;allowInterrupt&gt;1&lt;/allowInterrupt&gt;&lt;/QuizProperties&gt;&#10;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3312</TotalTime>
  <Words>577</Words>
  <Application>Microsoft Office PowerPoint</Application>
  <PresentationFormat>Экран (4:3)</PresentationFormat>
  <Paragraphs>127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Georgia</vt:lpstr>
      <vt:lpstr>Times New Roman</vt:lpstr>
      <vt:lpstr>Тема Office</vt:lpstr>
      <vt:lpstr>Презентация PowerPoint</vt:lpstr>
      <vt:lpstr>Актуальность:</vt:lpstr>
      <vt:lpstr>Объект исследования: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презентации</dc:title>
  <dc:creator>Инна</dc:creator>
  <cp:lastModifiedBy>Алим Джатдоев</cp:lastModifiedBy>
  <cp:revision>192</cp:revision>
  <dcterms:created xsi:type="dcterms:W3CDTF">2015-03-16T21:49:00Z</dcterms:created>
  <dcterms:modified xsi:type="dcterms:W3CDTF">2026-03-04T11:09:58Z</dcterms:modified>
</cp:coreProperties>
</file>